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>
                <a:solidFill>
                  <a:srgbClr val="45A2F8"/>
                </a:solidFill>
                <a:latin typeface="Arial"/>
              </a:defRPr>
            </a:pPr>
            <a:r>
              <a:t>DecayMonitor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2651760"/>
            <a:ext cx="3657600" cy="45720"/>
          </a:xfrm>
          <a:prstGeom prst="rect">
            <a:avLst/>
          </a:prstGeom>
          <a:solidFill>
            <a:srgbClr val="45A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FFFFFF"/>
                </a:solidFill>
                <a:latin typeface="Arial"/>
              </a:defRPr>
            </a:pPr>
            <a:r>
              <a:t>全球首个 LLM 递归稳定性评测平台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498A2"/>
                </a:solidFill>
                <a:latin typeface="Arial"/>
              </a:defRPr>
            </a:pPr>
            <a:r>
              <a:t>一个数字 β，量化模型在多轮对话中的质量衰减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Arial"/>
              </a:defRPr>
            </a:pPr>
            <a:r>
              <a:t>Deng Xinhang  ·  Beijing  ·  2026.05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Arial"/>
              </a:defRPr>
            </a:pPr>
            <a:r>
              <a:t>1/14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Arial"/>
              </a:defRPr>
            </a:pPr>
            <a:r>
              <a:t>你的模型在悄悄“失智”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80160"/>
            <a:ext cx="2286000" cy="45720"/>
          </a:xfrm>
          <a:prstGeom prst="rect">
            <a:avLst/>
          </a:prstGeom>
          <a:solidFill>
            <a:srgbClr val="45A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737360"/>
            <a:ext cx="3200400" cy="2926080"/>
          </a:xfrm>
          <a:prstGeom prst="roundRect">
            <a:avLst/>
          </a:prstGeom>
          <a:solidFill>
            <a:srgbClr val="151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9202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F4444"/>
                </a:solidFill>
                <a:latin typeface="Arial"/>
              </a:defRPr>
            </a:pPr>
            <a:r>
              <a:t>🤖 客服机器人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560320"/>
            <a:ext cx="2743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9498A2"/>
                </a:solidFill>
                <a:latin typeface="Arial"/>
              </a:defRPr>
            </a:pPr>
            <a:r>
              <a:t>第1轮精准回答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9498A2"/>
                </a:solidFill>
                <a:latin typeface="Arial"/>
              </a:defRPr>
            </a:pPr>
            <a:r>
              <a:t>第5轮答非所问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9498A2"/>
                </a:solidFill>
                <a:latin typeface="Arial"/>
              </a:defRPr>
            </a:pPr>
            <a:r>
              <a:t>→ 用户体验崩溃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737360"/>
            <a:ext cx="3200400" cy="2926080"/>
          </a:xfrm>
          <a:prstGeom prst="roundRect">
            <a:avLst/>
          </a:prstGeom>
          <a:solidFill>
            <a:srgbClr val="151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0" y="19202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F4444"/>
                </a:solidFill>
                <a:latin typeface="Arial"/>
              </a:defRPr>
            </a:pPr>
            <a:r>
              <a:t>📝 AI 写作助手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2560320"/>
            <a:ext cx="2743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9498A2"/>
                </a:solidFill>
                <a:latin typeface="Arial"/>
              </a:defRPr>
            </a:pPr>
            <a:r>
              <a:t>初稿结构清晰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9498A2"/>
                </a:solidFill>
                <a:latin typeface="Arial"/>
              </a:defRPr>
            </a:pPr>
            <a:r>
              <a:t>递归修改后逻辑断裂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9498A2"/>
                </a:solidFill>
                <a:latin typeface="Arial"/>
              </a:defRPr>
            </a:pPr>
            <a:r>
              <a:t>→ 越改越差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737360"/>
            <a:ext cx="3200400" cy="2926080"/>
          </a:xfrm>
          <a:prstGeom prst="roundRect">
            <a:avLst/>
          </a:prstGeom>
          <a:solidFill>
            <a:srgbClr val="151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9202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F4444"/>
                </a:solidFill>
                <a:latin typeface="Arial"/>
              </a:defRPr>
            </a:pPr>
            <a:r>
              <a:t>🔗 Agent 链式推理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2560320"/>
            <a:ext cx="2743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9498A2"/>
                </a:solidFill>
                <a:latin typeface="Arial"/>
              </a:defRPr>
            </a:pPr>
            <a:r>
              <a:t>第一步推理正确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9498A2"/>
                </a:solidFill>
                <a:latin typeface="Arial"/>
              </a:defRPr>
            </a:pPr>
            <a:r>
              <a:t>到第三步结论荒谬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9498A2"/>
                </a:solidFill>
                <a:latin typeface="Arial"/>
              </a:defRPr>
            </a:pPr>
            <a:r>
              <a:t>→ 任务失败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0292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98A2"/>
                </a:solidFill>
                <a:latin typeface="Arial"/>
              </a:defRPr>
            </a:pPr>
            <a:r>
              <a:t>根本原因：模型输出被当作新一轮输入时，约束结构逐代丢失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5760720"/>
            <a:ext cx="10332720" cy="640080"/>
          </a:xfrm>
          <a:prstGeom prst="round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85216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4D399"/>
                </a:solidFill>
                <a:latin typeface="Arial"/>
              </a:defRPr>
            </a:pPr>
            <a:r>
              <a:t>💡 这不仅是体验问题 — Agent、多轮推理、内容生成等核心场景都在受影响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Arial"/>
              </a:defRPr>
            </a:pPr>
            <a:r>
              <a:t>2/14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Arial"/>
              </a:defRPr>
            </a:pPr>
            <a:r>
              <a:t>现有评测全都只测“单次质量”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80160"/>
            <a:ext cx="2286000" cy="45720"/>
          </a:xfrm>
          <a:prstGeom prst="rect">
            <a:avLst/>
          </a:prstGeom>
          <a:solidFill>
            <a:srgbClr val="45A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4846320" cy="2011680"/>
          </a:xfrm>
          <a:prstGeom prst="roundRect">
            <a:avLst/>
          </a:prstGeom>
          <a:solidFill>
            <a:srgbClr val="151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1920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5A2F8"/>
                </a:solidFill>
                <a:latin typeface="Arial"/>
              </a:defRPr>
            </a:pPr>
            <a:r>
              <a:t>现有的评测体系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46888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9498A2"/>
                </a:solidFill>
                <a:latin typeface="Arial"/>
              </a:defRPr>
            </a:pPr>
            <a:r>
              <a:t>MMLU / MMLU-Pro  -&gt; 知识覆盖面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9498A2"/>
                </a:solidFill>
                <a:latin typeface="Arial"/>
              </a:defRPr>
            </a:pPr>
            <a:r>
              <a:t>HumanEval / MBPP -&gt; 代码生成能力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9498A2"/>
                </a:solidFill>
                <a:latin typeface="Arial"/>
              </a:defRPr>
            </a:pPr>
            <a:r>
              <a:t>Chatbot Arena    -&gt; 人类偏好投票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9498A2"/>
                </a:solidFill>
                <a:latin typeface="Arial"/>
              </a:defRPr>
            </a:pPr>
            <a:r>
              <a:t>HELM / BIG-bench -&gt; 多维度综合评分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029200" cy="2011680"/>
          </a:xfrm>
          <a:prstGeom prst="roundRect">
            <a:avLst/>
          </a:prstGeom>
          <a:solidFill>
            <a:srgbClr val="1A1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920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F4444"/>
                </a:solidFill>
                <a:latin typeface="Arial"/>
              </a:defRPr>
            </a:pPr>
            <a:r>
              <a:t>缺失的维度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46888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EF4444"/>
                </a:solidFill>
                <a:latin typeface="Arial"/>
              </a:defRPr>
            </a:pPr>
            <a:r>
              <a:t>❌ 递归稳定性 — 连续多轮的输出质量是否稳定？</a:t>
            </a:r>
          </a:p>
          <a:p>
            <a:pPr algn="l">
              <a:spcAft>
                <a:spcPts val="400"/>
              </a:spcAft>
              <a:defRPr sz="1400" b="1">
                <a:solidFill>
                  <a:srgbClr val="EF4444"/>
                </a:solidFill>
                <a:latin typeface="Arial"/>
              </a:defRPr>
            </a:pPr>
            <a:r>
              <a:t>❌ 约束保持 — 核心约束在迭代中是否被保留？</a:t>
            </a:r>
          </a:p>
          <a:p>
            <a:pPr algn="l">
              <a:spcAft>
                <a:spcPts val="400"/>
              </a:spcAft>
              <a:defRPr sz="1400" b="1">
                <a:solidFill>
                  <a:srgbClr val="EF4444"/>
                </a:solidFill>
                <a:latin typeface="Arial"/>
              </a:defRPr>
            </a:pPr>
            <a:r>
              <a:t>❌ 退化模式 — 具体是哪类规则先崩溃？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2062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就像汽车评测只测百公里加速，不测刹车距离 — 你永远不知道模型“失控”是什么时候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86000" y="4937760"/>
            <a:ext cx="2286000" cy="1371600"/>
          </a:xfrm>
          <a:prstGeom prst="roundRect">
            <a:avLst/>
          </a:prstGeom>
          <a:solidFill>
            <a:srgbClr val="151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516636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45A2F8"/>
                </a:solidFill>
                <a:latin typeface="Arial"/>
              </a:defRPr>
            </a:pPr>
            <a:r>
              <a:t>$17亿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580644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98A2"/>
                </a:solidFill>
                <a:latin typeface="Arial"/>
              </a:defRPr>
            </a:pPr>
            <a:r>
              <a:t>LMArena 估值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12080" y="4937760"/>
            <a:ext cx="2286000" cy="1371600"/>
          </a:xfrm>
          <a:prstGeom prst="roundRect">
            <a:avLst/>
          </a:prstGeom>
          <a:solidFill>
            <a:srgbClr val="151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0" y="516636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34D399"/>
                </a:solidFill>
                <a:latin typeface="Arial"/>
              </a:defRPr>
            </a:pPr>
            <a:r>
              <a:t>$3000万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580644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98A2"/>
                </a:solidFill>
                <a:latin typeface="Arial"/>
              </a:defRPr>
            </a:pPr>
            <a:r>
              <a:t>LMArena ARR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4937760"/>
            <a:ext cx="2286000" cy="1371600"/>
          </a:xfrm>
          <a:prstGeom prst="roundRect">
            <a:avLst/>
          </a:prstGeom>
          <a:solidFill>
            <a:srgbClr val="151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516636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F4444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580644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98A2"/>
                </a:solidFill>
                <a:latin typeface="Arial"/>
              </a:defRPr>
            </a:pPr>
            <a:r>
              <a:t>递归稳定性评测</a:t>
            </a:r>
            <a:br/>
            <a:r>
              <a:t>产品数量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Arial"/>
              </a:defRPr>
            </a:pPr>
            <a:r>
              <a:t>3/14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Arial"/>
              </a:defRPr>
            </a:pPr>
            <a:r>
              <a:t>β — 一个数字，量化递归稳定性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80160"/>
            <a:ext cx="2286000" cy="45720"/>
          </a:xfrm>
          <a:prstGeom prst="rect">
            <a:avLst/>
          </a:prstGeom>
          <a:solidFill>
            <a:srgbClr val="45A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737360"/>
            <a:ext cx="10332720" cy="1463040"/>
          </a:xfrm>
          <a:prstGeom prst="roundRect">
            <a:avLst/>
          </a:prstGeom>
          <a:solidFill>
            <a:srgbClr val="151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82880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5A2F8"/>
                </a:solidFill>
                <a:latin typeface="Arial"/>
              </a:defRPr>
            </a:pPr>
            <a:r>
              <a:t>定义：递归衰减系数 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37744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FFFFFF"/>
                </a:solidFill>
                <a:latin typeface="Arial"/>
              </a:defRPr>
            </a:pPr>
            <a:r>
              <a:t>||Π||ₙ = ||Π||₀ x (1 - β)ⁿ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9498A2"/>
                </a:solidFill>
                <a:latin typeface="Arial"/>
              </a:defRPr>
            </a:pPr>
            <a:r>
              <a:t>约束质量随递归代数 n 呈指数衰减。β 越小 -&gt; 模型越稳定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474720"/>
            <a:ext cx="4846320" cy="1828800"/>
          </a:xfrm>
          <a:prstGeom prst="roundRect">
            <a:avLst/>
          </a:prstGeom>
          <a:solidFill>
            <a:srgbClr val="151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3566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4D399"/>
                </a:solidFill>
                <a:latin typeface="Arial"/>
              </a:defRPr>
            </a:pPr>
            <a:r>
              <a:t>如何解读 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411480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34D399"/>
                </a:solidFill>
                <a:latin typeface="Arial"/>
              </a:defRPr>
            </a:pPr>
            <a:r>
              <a:t>β = 0.15 -&gt; 每代保留 85% 约束质量，稳定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EF4444"/>
                </a:solidFill>
                <a:latin typeface="Arial"/>
              </a:defRPr>
            </a:pPr>
            <a:r>
              <a:t>β = 0.30 -&gt; 每代保留 70%，3代后剩 34%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EF4444"/>
                </a:solidFill>
                <a:latin typeface="Arial"/>
              </a:defRPr>
            </a:pPr>
            <a:r>
              <a:t>β = 0.50 -&gt; 每代保留 50%，3代后剩 12.5%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474720"/>
            <a:ext cx="5029200" cy="1828800"/>
          </a:xfrm>
          <a:prstGeom prst="roundRect">
            <a:avLst/>
          </a:prstGeom>
          <a:solidFill>
            <a:srgbClr val="151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3566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C3AED"/>
                </a:solidFill>
                <a:latin typeface="Arial"/>
              </a:defRPr>
            </a:pPr>
            <a:r>
              <a:t>为什么是全自动的？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411480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FFFFFF"/>
                </a:solidFill>
                <a:latin typeface="Arial"/>
              </a:defRPr>
            </a:pPr>
            <a:r>
              <a:t>纯文本特征提取，无需 GPU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FFFFFF"/>
                </a:solidFill>
                <a:latin typeface="Arial"/>
              </a:defRPr>
            </a:pPr>
            <a:r>
              <a:t>不依赖 LLM-as-Judge（省钱 + 可复现）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FFFFFF"/>
                </a:solidFill>
                <a:latin typeface="Arial"/>
              </a:defRPr>
            </a:pPr>
            <a:r>
              <a:t>8 个 CPU-only 文本特征 -&gt; 约束梯度 Π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34D399"/>
                </a:solidFill>
                <a:latin typeface="Arial"/>
              </a:defRPr>
            </a:pPr>
            <a:r>
              <a:t>评测一个模型成本 &lt; $0.50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5669280"/>
            <a:ext cx="10332720" cy="731520"/>
          </a:xfrm>
          <a:prstGeom prst="round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576072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4D399"/>
                </a:solidFill>
                <a:latin typeface="Arial"/>
              </a:defRPr>
            </a:pPr>
            <a:r>
              <a:t>⚡ 全自动 · 零人工标注 · 可复现 · 跨模型可比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Arial"/>
              </a:defRPr>
            </a:pPr>
            <a:r>
              <a:t>4/14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Arial"/>
              </a:defRPr>
            </a:pPr>
            <a:r>
              <a:t>三步完成评测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80160"/>
            <a:ext cx="2286000" cy="45720"/>
          </a:xfrm>
          <a:prstGeom prst="rect">
            <a:avLst/>
          </a:prstGeom>
          <a:solidFill>
            <a:srgbClr val="45A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011680" y="1828800"/>
            <a:ext cx="731520" cy="731520"/>
          </a:xfrm>
          <a:prstGeom prst="ellipse">
            <a:avLst/>
          </a:prstGeom>
          <a:solidFill>
            <a:srgbClr val="45A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74320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rial"/>
              </a:defRPr>
            </a:pPr>
            <a:r>
              <a:t>种子生成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29184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 b="0">
                <a:solidFill>
                  <a:srgbClr val="9498A2"/>
                </a:solidFill>
                <a:latin typeface="Arial"/>
              </a:defRPr>
            </a:pPr>
            <a:r>
              <a:t>36个多样性种子提示词</a:t>
            </a:r>
          </a:p>
          <a:p>
            <a:pPr algn="ctr">
              <a:spcAft>
                <a:spcPts val="400"/>
              </a:spcAft>
              <a:defRPr sz="1400" b="0">
                <a:solidFill>
                  <a:srgbClr val="9498A2"/>
                </a:solidFill>
                <a:latin typeface="Arial"/>
              </a:defRPr>
            </a:pPr>
            <a:r>
              <a:t>模型递归生成 Gen0-&gt;Gen3</a:t>
            </a:r>
          </a:p>
          <a:p>
            <a:pPr algn="ctr">
              <a:spcAft>
                <a:spcPts val="400"/>
              </a:spcAft>
              <a:defRPr sz="1400" b="0">
                <a:solidFill>
                  <a:srgbClr val="9498A2"/>
                </a:solidFill>
                <a:latin typeface="Arial"/>
              </a:defRPr>
            </a:pPr>
            <a:r>
              <a:t>输出 = 144个文本样本</a:t>
            </a:r>
          </a:p>
        </p:txBody>
      </p:sp>
      <p:sp>
        <p:nvSpPr>
          <p:cNvPr id="7" name="Oval 6"/>
          <p:cNvSpPr/>
          <p:nvPr/>
        </p:nvSpPr>
        <p:spPr>
          <a:xfrm>
            <a:off x="5577840" y="1828800"/>
            <a:ext cx="731520" cy="7315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274320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rial"/>
              </a:defRPr>
            </a:pPr>
            <a:r>
              <a:t>特征提取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329184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 b="0">
                <a:solidFill>
                  <a:srgbClr val="9498A2"/>
                </a:solidFill>
                <a:latin typeface="Arial"/>
              </a:defRPr>
            </a:pPr>
            <a:r>
              <a:t>8维CPU-only文本特征</a:t>
            </a:r>
          </a:p>
          <a:p>
            <a:pPr algn="ctr">
              <a:spcAft>
                <a:spcPts val="400"/>
              </a:spcAft>
              <a:defRPr sz="1400" b="0">
                <a:solidFill>
                  <a:srgbClr val="9498A2"/>
                </a:solidFill>
                <a:latin typeface="Arial"/>
              </a:defRPr>
            </a:pPr>
            <a:r>
              <a:t>逻辑密度 / 句法多样性 / 重复率</a:t>
            </a:r>
          </a:p>
          <a:p>
            <a:pPr algn="ctr">
              <a:spcAft>
                <a:spcPts val="400"/>
              </a:spcAft>
              <a:defRPr sz="1400" b="0">
                <a:solidFill>
                  <a:srgbClr val="9498A2"/>
                </a:solidFill>
                <a:latin typeface="Arial"/>
              </a:defRPr>
            </a:pPr>
            <a:r>
              <a:t>信息密度 / 格式完整性</a:t>
            </a:r>
          </a:p>
        </p:txBody>
      </p:sp>
      <p:sp>
        <p:nvSpPr>
          <p:cNvPr id="10" name="Oval 9"/>
          <p:cNvSpPr/>
          <p:nvPr/>
        </p:nvSpPr>
        <p:spPr>
          <a:xfrm>
            <a:off x="9144000" y="1828800"/>
            <a:ext cx="731520" cy="73152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274320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rial"/>
              </a:defRPr>
            </a:pPr>
            <a:r>
              <a:t>β 计算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329184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 b="0">
                <a:solidFill>
                  <a:srgbClr val="9498A2"/>
                </a:solidFill>
                <a:latin typeface="Arial"/>
              </a:defRPr>
            </a:pPr>
            <a:r>
              <a:t>约束梯度 Π = Σ∇σ</a:t>
            </a:r>
          </a:p>
          <a:p>
            <a:pPr algn="ctr">
              <a:spcAft>
                <a:spcPts val="400"/>
              </a:spcAft>
              <a:defRPr sz="1400" b="0">
                <a:solidFill>
                  <a:srgbClr val="9498A2"/>
                </a:solidFill>
                <a:latin typeface="Arial"/>
              </a:defRPr>
            </a:pPr>
            <a:r>
              <a:t>拟合指数衰减曲线</a:t>
            </a:r>
          </a:p>
          <a:p>
            <a:pPr algn="ctr">
              <a:spcAft>
                <a:spcPts val="400"/>
              </a:spcAft>
              <a:defRPr sz="1400" b="0">
                <a:solidFill>
                  <a:srgbClr val="9498A2"/>
                </a:solidFill>
                <a:latin typeface="Arial"/>
              </a:defRPr>
            </a:pPr>
            <a:r>
              <a:t>输出 β + 6维退化诊断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1920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9498A2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1920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9498A2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5029200"/>
            <a:ext cx="10332720" cy="1280160"/>
          </a:xfrm>
          <a:prstGeom prst="roundRect">
            <a:avLst/>
          </a:prstGeom>
          <a:solidFill>
            <a:srgbClr val="151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512064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5A2F8"/>
                </a:solidFill>
                <a:latin typeface="Arial"/>
              </a:defRPr>
            </a:pPr>
            <a:r>
              <a:t>输出示例：Claude Sonnet 4.6 评测报告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557784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FFFFFF"/>
                </a:solidFill>
                <a:latin typeface="Arial"/>
              </a:defRPr>
            </a:pPr>
            <a:r>
              <a:t>全局 β = 0.311  |  事实 β=0.28  |  逻辑 β=0.34  |  创意 β=0.31  |  编码 β=0.33  |  安全 β=0.27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9498A2"/>
                </a:solidFill>
                <a:latin typeface="Arial"/>
              </a:defRPr>
            </a:pPr>
            <a:r>
              <a:t>诊断：E-III（边界执行者）退化为主，格式化能力先于逻辑能力衰减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Arial"/>
              </a:defRPr>
            </a:pPr>
            <a:r>
              <a:t>5/14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Arial"/>
              </a:defRPr>
            </a:pPr>
            <a:r>
              <a:t>β 是模型的内在属性 — 跨家族验证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80160"/>
            <a:ext cx="2286000" cy="45720"/>
          </a:xfrm>
          <a:prstGeom prst="rect">
            <a:avLst/>
          </a:prstGeom>
          <a:solidFill>
            <a:srgbClr val="45A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10332720" cy="1463040"/>
          </a:xfrm>
          <a:prstGeom prst="roundRect">
            <a:avLst/>
          </a:prstGeom>
          <a:solidFill>
            <a:srgbClr val="151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737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4D399"/>
                </a:solidFill>
                <a:latin typeface="Arial"/>
              </a:defRPr>
            </a:pPr>
            <a:r>
              <a:t>核心发现：β 在家族内高度一致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19456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FFFFFF"/>
                </a:solidFill>
                <a:latin typeface="Arial"/>
              </a:defRPr>
            </a:pPr>
            <a:r>
              <a:t>Claude 家族：Haiku β=0.311, Sonnet β=0.311, Opus β=0.297 -&gt; 家族内极差仅 0.014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9498A2"/>
                </a:solidFill>
                <a:latin typeface="Arial"/>
              </a:defRPr>
            </a:pPr>
            <a:r>
              <a:t>-&gt; 验证了“家族常数假说”：β 是模型家族的内在属性，不受模型规模影响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383280"/>
            <a:ext cx="6858000" cy="2743200"/>
          </a:xfrm>
          <a:prstGeom prst="roundRect">
            <a:avLst/>
          </a:prstGeom>
          <a:solidFill>
            <a:srgbClr val="151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34747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5A2F8"/>
                </a:solidFill>
                <a:latin typeface="Arial"/>
              </a:defRPr>
            </a:pPr>
            <a:r>
              <a:t>已评测模型 β 排行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93192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Arial"/>
              </a:defRPr>
            </a:pPr>
            <a:r>
              <a:t>DeepSeek-Chat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31920" y="3931920"/>
            <a:ext cx="457200" cy="20116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0" y="393192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4D399"/>
                </a:solidFill>
                <a:latin typeface="Arial"/>
              </a:defRPr>
            </a:pPr>
            <a:r>
              <a:t>β=0.063  [DeepSeek]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31596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Arial"/>
              </a:defRPr>
            </a:pPr>
            <a:r>
              <a:t>GPT-4o-mini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31920" y="4315968"/>
            <a:ext cx="1124712" cy="20116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0" y="431596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4D399"/>
                </a:solidFill>
                <a:latin typeface="Arial"/>
              </a:defRPr>
            </a:pPr>
            <a:r>
              <a:t>β=0.154  [OpenAI]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700016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Arial"/>
              </a:defRPr>
            </a:pPr>
            <a:r>
              <a:t>Qwen2.5-7B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31920" y="4700016"/>
            <a:ext cx="2084831" cy="20116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0" y="4700016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F4444"/>
                </a:solidFill>
                <a:latin typeface="Arial"/>
              </a:defRPr>
            </a:pPr>
            <a:r>
              <a:t>β=0.286  [Qwen]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5084064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Arial"/>
              </a:defRPr>
            </a:pPr>
            <a:r>
              <a:t>Claude Opus 4.6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31920" y="5084064"/>
            <a:ext cx="2167128" cy="20116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0" y="5084064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F4444"/>
                </a:solidFill>
                <a:latin typeface="Arial"/>
              </a:defRPr>
            </a:pPr>
            <a:r>
              <a:t>β=0.297  [Claude]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46811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Arial"/>
              </a:defRPr>
            </a:pPr>
            <a:r>
              <a:t>Claude Sonnet 4.6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31920" y="5468112"/>
            <a:ext cx="2267712" cy="20116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0" y="546811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F4444"/>
                </a:solidFill>
                <a:latin typeface="Arial"/>
              </a:defRPr>
            </a:pPr>
            <a:r>
              <a:t>β=0.311  [Claude]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585216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Arial"/>
              </a:defRPr>
            </a:pPr>
            <a:r>
              <a:t>Claude Haiku 4.5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931920" y="5852160"/>
            <a:ext cx="2267712" cy="20116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0" y="585216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F4444"/>
                </a:solidFill>
                <a:latin typeface="Arial"/>
              </a:defRPr>
            </a:pPr>
            <a:r>
              <a:t>β=0.311  [Claude]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0" y="3383280"/>
            <a:ext cx="3017520" cy="2743200"/>
          </a:xfrm>
          <a:prstGeom prst="roundRect">
            <a:avLst/>
          </a:prstGeom>
          <a:solidFill>
            <a:srgbClr val="151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95360" y="34747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7C3AED"/>
                </a:solidFill>
                <a:latin typeface="Arial"/>
              </a:defRPr>
            </a:pPr>
            <a:r>
              <a:t>家族常数验证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0" y="40233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600" b="1">
                <a:solidFill>
                  <a:srgbClr val="34D399"/>
                </a:solidFill>
                <a:latin typeface="Arial"/>
              </a:defRPr>
            </a:pPr>
            <a:r>
              <a:t>✓ 3 个家族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60" y="42976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600" b="1">
                <a:solidFill>
                  <a:srgbClr val="34D399"/>
                </a:solidFill>
                <a:latin typeface="Arial"/>
              </a:defRPr>
            </a:pPr>
            <a:r>
              <a:t>✓ 8 个模型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95360" y="45720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 b="0">
                <a:solidFill>
                  <a:srgbClr val="9498A2"/>
                </a:solidFill>
                <a:latin typeface="Arial"/>
              </a:defRPr>
            </a:pPr>
            <a:r>
              <a:t>✓ 家族内极差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95360" y="48463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 b="0">
                <a:solidFill>
                  <a:srgbClr val="34D399"/>
                </a:solidFill>
                <a:latin typeface="Arial"/>
              </a:defRPr>
            </a:pPr>
            <a:r>
              <a:t>   &lt; 0.02 全部通过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95360" y="51206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9498A2"/>
                </a:solidFill>
                <a:latin typeface="Arial"/>
              </a:defRPr>
            </a:pPr>
          </a:p>
        </p:txBody>
      </p:sp>
      <p:sp>
        <p:nvSpPr>
          <p:cNvPr id="34" name="TextBox 33"/>
          <p:cNvSpPr txBox="1"/>
          <p:nvPr/>
        </p:nvSpPr>
        <p:spPr>
          <a:xfrm>
            <a:off x="8595360" y="53949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β 不是随机噪声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95360" y="56692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是有物理意义的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95360" y="59436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内在属性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Arial"/>
              </a:defRPr>
            </a:pPr>
            <a:r>
              <a:t>6/14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Arial"/>
              </a:defRPr>
            </a:pPr>
            <a:r>
              <a:t>β 能预测下游任务的质量损失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80160"/>
            <a:ext cx="2286000" cy="45720"/>
          </a:xfrm>
          <a:prstGeom prst="rect">
            <a:avLst/>
          </a:prstGeom>
          <a:solidFill>
            <a:srgbClr val="45A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737360"/>
            <a:ext cx="10332720" cy="1280160"/>
          </a:xfrm>
          <a:prstGeom prst="roundRect">
            <a:avLst/>
          </a:prstGeom>
          <a:solidFill>
            <a:srgbClr val="151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82880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200" b="1">
                <a:solidFill>
                  <a:srgbClr val="45A2F8"/>
                </a:solidFill>
                <a:latin typeface="Arial"/>
              </a:defRPr>
            </a:pPr>
            <a:r>
              <a:t>校准方程（编码 + 事实检索）</a:t>
            </a:r>
          </a:p>
          <a:p>
            <a:pPr algn="l">
              <a:spcAft>
                <a:spcPts val="400"/>
              </a:spcAft>
              <a:defRPr sz="2200" b="1">
                <a:solidFill>
                  <a:srgbClr val="FFFFFF"/>
                </a:solidFill>
                <a:latin typeface="Arial"/>
              </a:defRPr>
            </a:pPr>
            <a:r>
              <a:t>quality_loss = 0.125 x β + 0.160   (Pearson r = 0.79)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9498A2"/>
                </a:solidFill>
                <a:latin typeface="Arial"/>
              </a:defRPr>
            </a:pPr>
            <a:r>
              <a:t>β 每增加 0.1 -&gt; 下游任务质量多损失 1.25% -&gt; 直观、可解释、可外推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383280"/>
            <a:ext cx="10332720" cy="2743200"/>
          </a:xfrm>
          <a:prstGeom prst="roundRect">
            <a:avLst/>
          </a:prstGeom>
          <a:solidFill>
            <a:srgbClr val="151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347472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实际影响场景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88720" y="4114800"/>
            <a:ext cx="2377440" cy="1828800"/>
          </a:xfrm>
          <a:prstGeom prst="roundRect">
            <a:avLst/>
          </a:prstGeom>
          <a:solidFill>
            <a:srgbClr val="121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5880" y="420624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5A2F8"/>
                </a:solidFill>
                <a:latin typeface="Arial"/>
              </a:defRPr>
            </a:pPr>
            <a:r>
              <a:t>📊 模型选型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466344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9498A2"/>
                </a:solidFill>
                <a:latin typeface="Arial"/>
              </a:defRPr>
            </a:pPr>
            <a:r>
              <a:t>β=0.15 vs β=0.30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9498A2"/>
                </a:solidFill>
                <a:latin typeface="Arial"/>
              </a:defRPr>
            </a:pPr>
            <a:r>
              <a:t>同样的 MMLU 分数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9498A2"/>
                </a:solidFill>
                <a:latin typeface="Arial"/>
              </a:defRPr>
            </a:pPr>
            <a:r>
              <a:t>多轮场景质量差距 2x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40480" y="4114800"/>
            <a:ext cx="2377440" cy="1828800"/>
          </a:xfrm>
          <a:prstGeom prst="roundRect">
            <a:avLst/>
          </a:prstGeom>
          <a:solidFill>
            <a:srgbClr val="121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77640" y="420624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C3AED"/>
                </a:solidFill>
                <a:latin typeface="Arial"/>
              </a:defRPr>
            </a:pPr>
            <a:r>
              <a:t>🔧 训练诊断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77640" y="466344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9498A2"/>
                </a:solidFill>
                <a:latin typeface="Arial"/>
              </a:defRPr>
            </a:pPr>
            <a:r>
              <a:t>β_fact &gt;&gt; β_code？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9498A2"/>
                </a:solidFill>
                <a:latin typeface="Arial"/>
              </a:defRPr>
            </a:pPr>
            <a:r>
              <a:t>训练数据事实类覆盖不足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9498A2"/>
                </a:solidFill>
                <a:latin typeface="Arial"/>
              </a:defRPr>
            </a:pPr>
            <a:r>
              <a:t>精准指出数据盲区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4114800"/>
            <a:ext cx="2377440" cy="1828800"/>
          </a:xfrm>
          <a:prstGeom prst="roundRect">
            <a:avLst/>
          </a:prstGeom>
          <a:solidFill>
            <a:srgbClr val="121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420624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4D399"/>
                </a:solidFill>
                <a:latin typeface="Arial"/>
              </a:defRPr>
            </a:pPr>
            <a:r>
              <a:t>📈 版本回归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466344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9498A2"/>
                </a:solidFill>
                <a:latin typeface="Arial"/>
              </a:defRPr>
            </a:pPr>
            <a:r>
              <a:t>v2 的 β 比 v1 高 0.05？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9498A2"/>
                </a:solidFill>
                <a:latin typeface="Arial"/>
              </a:defRPr>
            </a:pPr>
            <a:r>
              <a:t>新训练引入递归不稳定性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9498A2"/>
                </a:solidFill>
                <a:latin typeface="Arial"/>
              </a:defRPr>
            </a:pPr>
            <a:r>
              <a:t>发布前拦截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0" y="4114800"/>
            <a:ext cx="2377440" cy="1828800"/>
          </a:xfrm>
          <a:prstGeom prst="roundRect">
            <a:avLst/>
          </a:prstGeom>
          <a:solidFill>
            <a:srgbClr val="121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81160" y="420624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F4444"/>
                </a:solidFill>
                <a:latin typeface="Arial"/>
              </a:defRPr>
            </a:pPr>
            <a:r>
              <a:t>🏆 排行榜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1160" y="466344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9498A2"/>
                </a:solidFill>
                <a:latin typeface="Arial"/>
              </a:defRPr>
            </a:pPr>
            <a:r>
              <a:t>除了 MMLU 和 HumanEval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9498A2"/>
                </a:solidFill>
                <a:latin typeface="Arial"/>
              </a:defRPr>
            </a:pPr>
            <a:r>
              <a:t>现在还看 β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9498A2"/>
                </a:solidFill>
                <a:latin typeface="Arial"/>
              </a:defRPr>
            </a:pPr>
            <a:r>
              <a:t>评测清单上的新维度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Arial"/>
              </a:defRPr>
            </a:pPr>
            <a:r>
              <a:t>7/14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Arial"/>
              </a:defRPr>
            </a:pPr>
            <a:r>
              <a:t>我们在评测矩阵中的位置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80160"/>
            <a:ext cx="2286000" cy="45720"/>
          </a:xfrm>
          <a:prstGeom prst="rect">
            <a:avLst/>
          </a:prstGeom>
          <a:solidFill>
            <a:srgbClr val="45A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737360"/>
            <a:ext cx="10332720" cy="4114800"/>
          </a:xfrm>
          <a:prstGeom prst="roundRect">
            <a:avLst/>
          </a:prstGeom>
          <a:solidFill>
            <a:srgbClr val="151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920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Arial"/>
              </a:defRPr>
            </a:pPr>
            <a:r>
              <a:t>评测维度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920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Arial"/>
              </a:defRPr>
            </a:pPr>
            <a:r>
              <a:t>LMArena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920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Arial"/>
              </a:defRPr>
            </a:pPr>
            <a:r>
              <a:t>HELM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920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Arial"/>
              </a:defRPr>
            </a:pPr>
            <a:r>
              <a:t>MMLU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1920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Arial"/>
              </a:defRPr>
            </a:pPr>
            <a:r>
              <a:t>HumanEval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0" y="1920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45A2F8"/>
                </a:solidFill>
                <a:latin typeface="Arial"/>
              </a:defRPr>
            </a:pPr>
            <a:r>
              <a:t>DecayMonitor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2377440"/>
            <a:ext cx="10058400" cy="347472"/>
          </a:xfrm>
          <a:prstGeom prst="roundRect">
            <a:avLst/>
          </a:prstGeom>
          <a:solidFill>
            <a:srgbClr val="151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23957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Arial"/>
              </a:defRPr>
            </a:pPr>
            <a:r>
              <a:t>单次质量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23957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4D399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3957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4D399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3957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4D399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957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4D399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23957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Arial"/>
              </a:defRPr>
            </a:pPr>
            <a:r>
              <a:t>--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7280" y="2761488"/>
            <a:ext cx="10058400" cy="347472"/>
          </a:xfrm>
          <a:prstGeom prst="roundRect">
            <a:avLst/>
          </a:prstGeom>
          <a:solidFill>
            <a:srgbClr val="0B0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71600" y="277977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Arial"/>
              </a:defRPr>
            </a:pPr>
            <a:r>
              <a:t>知识覆盖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277977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Arial"/>
              </a:defRPr>
            </a:pPr>
            <a:r>
              <a:t>--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277977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4D399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277977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4D399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0" y="277977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Arial"/>
              </a:defRPr>
            </a:pPr>
            <a:r>
              <a:t>--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0" y="277977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Arial"/>
              </a:defRPr>
            </a:pPr>
            <a:r>
              <a:t>--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97280" y="3145536"/>
            <a:ext cx="10058400" cy="347472"/>
          </a:xfrm>
          <a:prstGeom prst="roundRect">
            <a:avLst/>
          </a:prstGeom>
          <a:solidFill>
            <a:srgbClr val="151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71600" y="316382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Arial"/>
              </a:defRPr>
            </a:pPr>
            <a:r>
              <a:t>代码能力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316382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Arial"/>
              </a:defRPr>
            </a:pPr>
            <a:r>
              <a:t>--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316382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4D399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316382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Arial"/>
              </a:defRPr>
            </a:pPr>
            <a:r>
              <a:t>--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80960" y="316382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4D399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61120" y="316382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Arial"/>
              </a:defRPr>
            </a:pPr>
            <a:r>
              <a:t>--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97280" y="3529584"/>
            <a:ext cx="10058400" cy="347472"/>
          </a:xfrm>
          <a:prstGeom prst="roundRect">
            <a:avLst/>
          </a:prstGeom>
          <a:solidFill>
            <a:srgbClr val="0B0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71600" y="354787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Arial"/>
              </a:defRPr>
            </a:pPr>
            <a:r>
              <a:t>人类偏好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0" y="354787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4D399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0" y="354787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Arial"/>
              </a:defRPr>
            </a:pPr>
            <a:r>
              <a:t>--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0" y="354787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Arial"/>
              </a:defRPr>
            </a:pPr>
            <a:r>
              <a:t>--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80960" y="354787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Arial"/>
              </a:defRPr>
            </a:pPr>
            <a:r>
              <a:t>--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61120" y="354787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Arial"/>
              </a:defRPr>
            </a:pPr>
            <a:r>
              <a:t>--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97280" y="3913632"/>
            <a:ext cx="10058400" cy="347472"/>
          </a:xfrm>
          <a:prstGeom prst="roundRect">
            <a:avLst/>
          </a:prstGeom>
          <a:solidFill>
            <a:srgbClr val="151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371600" y="3931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Arial"/>
              </a:defRPr>
            </a:pPr>
            <a:r>
              <a:t>多维度综合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00400" y="3931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Arial"/>
              </a:defRPr>
            </a:pPr>
            <a:r>
              <a:t>--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0" y="3931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4D399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7920" y="3931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Arial"/>
              </a:defRPr>
            </a:pPr>
            <a:r>
              <a:t>--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80960" y="3931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Arial"/>
              </a:defRPr>
            </a:pPr>
            <a:r>
              <a:t>--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961120" y="3931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4D399"/>
                </a:solidFill>
                <a:latin typeface="Arial"/>
              </a:defRPr>
            </a:pPr>
            <a:r>
              <a:t>✓ 6维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97280" y="4297680"/>
            <a:ext cx="10058400" cy="347472"/>
          </a:xfrm>
          <a:prstGeom prst="roundRect">
            <a:avLst/>
          </a:prstGeom>
          <a:solidFill>
            <a:srgbClr val="0B0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371600" y="43159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Arial"/>
              </a:defRPr>
            </a:pPr>
            <a:r>
              <a:t>递归稳定性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00400" y="43159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98A2"/>
                </a:solidFill>
                <a:latin typeface="Arial"/>
              </a:defRPr>
            </a:pPr>
            <a:r>
              <a:t>✗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0" y="43159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98A2"/>
                </a:solidFill>
                <a:latin typeface="Arial"/>
              </a:defRPr>
            </a:pPr>
            <a:r>
              <a:t>✗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17920" y="43159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98A2"/>
                </a:solidFill>
                <a:latin typeface="Arial"/>
              </a:defRPr>
            </a:pPr>
            <a:r>
              <a:t>✗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80960" y="43159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98A2"/>
                </a:solidFill>
                <a:latin typeface="Arial"/>
              </a:defRPr>
            </a:pPr>
            <a:r>
              <a:t>✗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961120" y="43159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4D399"/>
                </a:solidFill>
                <a:latin typeface="Arial"/>
              </a:defRPr>
            </a:pPr>
            <a:r>
              <a:t>✓ β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097280" y="4681728"/>
            <a:ext cx="10058400" cy="347472"/>
          </a:xfrm>
          <a:prstGeom prst="roundRect">
            <a:avLst/>
          </a:prstGeom>
          <a:solidFill>
            <a:srgbClr val="151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371600" y="470001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Arial"/>
              </a:defRPr>
            </a:pPr>
            <a:r>
              <a:t>退化诊断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200400" y="470001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98A2"/>
                </a:solidFill>
                <a:latin typeface="Arial"/>
              </a:defRPr>
            </a:pPr>
            <a:r>
              <a:t>✗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0" y="470001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98A2"/>
                </a:solidFill>
                <a:latin typeface="Arial"/>
              </a:defRPr>
            </a:pPr>
            <a:r>
              <a:t>✗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17920" y="470001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98A2"/>
                </a:solidFill>
                <a:latin typeface="Arial"/>
              </a:defRPr>
            </a:pPr>
            <a:r>
              <a:t>✗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680960" y="470001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98A2"/>
                </a:solidFill>
                <a:latin typeface="Arial"/>
              </a:defRPr>
            </a:pPr>
            <a:r>
              <a:t>✗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961120" y="470001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4D399"/>
                </a:solidFill>
                <a:latin typeface="Arial"/>
              </a:defRPr>
            </a:pPr>
            <a:r>
              <a:t>✓ E-I/II/III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097280" y="5065776"/>
            <a:ext cx="10058400" cy="347472"/>
          </a:xfrm>
          <a:prstGeom prst="roundRect">
            <a:avLst/>
          </a:prstGeom>
          <a:solidFill>
            <a:srgbClr val="0B0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371600" y="508406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Arial"/>
              </a:defRPr>
            </a:pPr>
            <a:r>
              <a:t>成本/模型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200400" y="508406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Arial"/>
              </a:defRPr>
            </a:pPr>
            <a:r>
              <a:t>$500+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572000" y="508406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Arial"/>
              </a:defRPr>
            </a:pPr>
            <a:r>
              <a:t>$100+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217920" y="508406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Arial"/>
              </a:defRPr>
            </a:pPr>
            <a:r>
              <a:t>$50+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680960" y="508406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Arial"/>
              </a:defRPr>
            </a:pPr>
            <a:r>
              <a:t>$30+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961120" y="508406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Arial"/>
              </a:defRPr>
            </a:pPr>
            <a:r>
              <a:t>&lt; $0.50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14400" y="612648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4D399"/>
                </a:solidFill>
                <a:latin typeface="Arial"/>
              </a:defRPr>
            </a:pPr>
            <a:r>
              <a:t>β 是正交维度 — 不打已有的仗，在评测清单上加一行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Arial"/>
              </a:defRPr>
            </a:pPr>
            <a:r>
              <a:t>8/14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Arial"/>
              </a:defRPr>
            </a:pPr>
            <a:r>
              <a:t>竞争壁垒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80160"/>
            <a:ext cx="2286000" cy="45720"/>
          </a:xfrm>
          <a:prstGeom prst="rect">
            <a:avLst/>
          </a:prstGeom>
          <a:solidFill>
            <a:srgbClr val="45A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645920" y="1645920"/>
            <a:ext cx="502920" cy="502920"/>
          </a:xfrm>
          <a:prstGeom prst="ellipse">
            <a:avLst/>
          </a:prstGeom>
          <a:solidFill>
            <a:srgbClr val="45A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2860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新维度定义权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834640"/>
            <a:ext cx="2560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200" b="0">
                <a:solidFill>
                  <a:srgbClr val="9498A2"/>
                </a:solidFill>
                <a:latin typeface="Arial"/>
              </a:defRPr>
            </a:pPr>
            <a:r>
              <a:t>如果“递归稳定性”被接受为评测标准，</a:t>
            </a:r>
          </a:p>
          <a:p>
            <a:pPr algn="ctr">
              <a:spcAft>
                <a:spcPts val="400"/>
              </a:spcAft>
              <a:defRPr sz="1200" b="0">
                <a:solidFill>
                  <a:srgbClr val="9498A2"/>
                </a:solidFill>
                <a:latin typeface="Arial"/>
              </a:defRPr>
            </a:pPr>
            <a:r>
              <a:t>定义者天然拥有权威地位。</a:t>
            </a:r>
          </a:p>
          <a:p>
            <a:pPr algn="ctr">
              <a:spcAft>
                <a:spcPts val="400"/>
              </a:spcAft>
              <a:defRPr sz="1200" b="0">
                <a:solidFill>
                  <a:srgbClr val="9498A2"/>
                </a:solidFill>
                <a:latin typeface="Arial"/>
              </a:defRPr>
            </a:pPr>
            <a:r>
              <a:t>就像 LMArena 定义了“人类偏好排行”。</a:t>
            </a:r>
          </a:p>
        </p:txBody>
      </p:sp>
      <p:sp>
        <p:nvSpPr>
          <p:cNvPr id="7" name="Oval 6"/>
          <p:cNvSpPr/>
          <p:nvPr/>
        </p:nvSpPr>
        <p:spPr>
          <a:xfrm>
            <a:off x="4389120" y="1645920"/>
            <a:ext cx="502920" cy="5029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03320" y="22860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全自动低成本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3320" y="2834640"/>
            <a:ext cx="2560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200" b="0">
                <a:solidFill>
                  <a:srgbClr val="9498A2"/>
                </a:solidFill>
                <a:latin typeface="Arial"/>
              </a:defRPr>
            </a:pPr>
            <a:r>
              <a:t>纯文本特征提取，CPU only。</a:t>
            </a:r>
          </a:p>
          <a:p>
            <a:pPr algn="ctr">
              <a:spcAft>
                <a:spcPts val="400"/>
              </a:spcAft>
              <a:defRPr sz="1200" b="0">
                <a:solidFill>
                  <a:srgbClr val="9498A2"/>
                </a:solidFill>
                <a:latin typeface="Arial"/>
              </a:defRPr>
            </a:pPr>
            <a:r>
              <a:t>评测一个模型 &lt; $0.50，</a:t>
            </a:r>
          </a:p>
          <a:p>
            <a:pPr algn="ctr">
              <a:spcAft>
                <a:spcPts val="400"/>
              </a:spcAft>
              <a:defRPr sz="1200" b="0">
                <a:solidFill>
                  <a:srgbClr val="9498A2"/>
                </a:solidFill>
                <a:latin typeface="Arial"/>
              </a:defRPr>
            </a:pPr>
            <a:r>
              <a:t>不需要 500 万用户投票。</a:t>
            </a:r>
          </a:p>
        </p:txBody>
      </p:sp>
      <p:sp>
        <p:nvSpPr>
          <p:cNvPr id="10" name="Oval 9"/>
          <p:cNvSpPr/>
          <p:nvPr/>
        </p:nvSpPr>
        <p:spPr>
          <a:xfrm>
            <a:off x="7132320" y="1645920"/>
            <a:ext cx="502920" cy="50292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2860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跨家族 β 数据库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834640"/>
            <a:ext cx="2560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200" b="0">
                <a:solidFill>
                  <a:srgbClr val="9498A2"/>
                </a:solidFill>
                <a:latin typeface="Arial"/>
              </a:defRPr>
            </a:pPr>
            <a:r>
              <a:t>3 个家族 8 个模型的数据先发优势。</a:t>
            </a:r>
          </a:p>
          <a:p>
            <a:pPr algn="ctr">
              <a:spcAft>
                <a:spcPts val="400"/>
              </a:spcAft>
              <a:defRPr sz="1200" b="0">
                <a:solidFill>
                  <a:srgbClr val="9498A2"/>
                </a:solidFill>
                <a:latin typeface="Arial"/>
              </a:defRPr>
            </a:pPr>
            <a:r>
              <a:t>每新增一个模型家族，</a:t>
            </a:r>
          </a:p>
          <a:p>
            <a:pPr algn="ctr">
              <a:spcAft>
                <a:spcPts val="400"/>
              </a:spcAft>
              <a:defRPr sz="1200" b="0">
                <a:solidFill>
                  <a:srgbClr val="9498A2"/>
                </a:solidFill>
                <a:latin typeface="Arial"/>
              </a:defRPr>
            </a:pPr>
            <a:r>
              <a:t>壁垒就增厚一层。</a:t>
            </a:r>
          </a:p>
        </p:txBody>
      </p:sp>
      <p:sp>
        <p:nvSpPr>
          <p:cNvPr id="13" name="Oval 12"/>
          <p:cNvSpPr/>
          <p:nvPr/>
        </p:nvSpPr>
        <p:spPr>
          <a:xfrm>
            <a:off x="9875520" y="1645920"/>
            <a:ext cx="502920" cy="5029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89720" y="22860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理论护城河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89720" y="2834640"/>
            <a:ext cx="2560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200" b="0">
                <a:solidFill>
                  <a:srgbClr val="9498A2"/>
                </a:solidFill>
                <a:latin typeface="Arial"/>
              </a:defRPr>
            </a:pPr>
            <a:r>
              <a:t>约束吸引子坍缩 + P1-P4 可验证预测。</a:t>
            </a:r>
          </a:p>
          <a:p>
            <a:pPr algn="ctr">
              <a:spcAft>
                <a:spcPts val="400"/>
              </a:spcAft>
              <a:defRPr sz="1200" b="0">
                <a:solidFill>
                  <a:srgbClr val="9498A2"/>
                </a:solidFill>
                <a:latin typeface="Arial"/>
              </a:defRPr>
            </a:pPr>
            <a:r>
              <a:t>不是只测了一个数，</a:t>
            </a:r>
          </a:p>
          <a:p>
            <a:pPr algn="ctr">
              <a:spcAft>
                <a:spcPts val="400"/>
              </a:spcAft>
              <a:defRPr sz="1200" b="0">
                <a:solidFill>
                  <a:srgbClr val="9498A2"/>
                </a:solidFill>
                <a:latin typeface="Arial"/>
              </a:defRPr>
            </a:pPr>
            <a:r>
              <a:t>背后有一套因果理论。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5029200"/>
            <a:ext cx="10332720" cy="1188720"/>
          </a:xfrm>
          <a:prstGeom prst="round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512064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D399"/>
                </a:solidFill>
                <a:latin typeface="Arial"/>
              </a:defRPr>
            </a:pPr>
            <a:r>
              <a:t>为什么大公司自己做不了？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553212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9498A2"/>
                </a:solidFill>
                <a:latin typeface="Arial"/>
              </a:defRPr>
            </a:pPr>
            <a:r>
              <a:t>• Anthropic 只测自己的模型 -&gt; 没有跨模型比较视角，β 值的参考系缺失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9498A2"/>
                </a:solidFill>
                <a:latin typeface="Arial"/>
              </a:defRPr>
            </a:pPr>
            <a:r>
              <a:t>• 第三方独立评测机构的跨模型数据，才是行业公信力的来源（类比：汽车安全评级 Euro NCAP）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Arial"/>
              </a:defRPr>
            </a:pPr>
            <a:r>
              <a:t>9/14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Arial"/>
              </a:defRPr>
            </a:pPr>
            <a:r>
              <a:t>六维能力分解：不只是全局 β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80160"/>
            <a:ext cx="2286000" cy="45720"/>
          </a:xfrm>
          <a:prstGeom prst="rect">
            <a:avLst/>
          </a:prstGeom>
          <a:solidFill>
            <a:srgbClr val="45A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1691640" cy="2468880"/>
          </a:xfrm>
          <a:prstGeom prst="roundRect">
            <a:avLst/>
          </a:prstGeom>
          <a:solidFill>
            <a:srgbClr val="151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45A2F8"/>
                </a:solidFill>
                <a:latin typeface="Arial"/>
              </a:defRPr>
            </a:pPr>
            <a:r>
              <a:t>📐 数学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59E0B"/>
                </a:solidFill>
                <a:latin typeface="Arial"/>
              </a:defRPr>
            </a:pPr>
            <a:r>
              <a:t>β=0.31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97480"/>
            <a:ext cx="1508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000" b="0">
                <a:solidFill>
                  <a:srgbClr val="9498A2"/>
                </a:solidFill>
                <a:latin typeface="Arial"/>
              </a:defRPr>
            </a:pPr>
            <a:r>
              <a:t>数值约束的逻辑保持力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297679"/>
            <a:ext cx="27432" cy="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05840" y="4297679"/>
            <a:ext cx="27432" cy="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0" y="4297679"/>
            <a:ext cx="27432" cy="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023360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98A2"/>
                </a:solidFill>
                <a:latin typeface="Arial"/>
              </a:defRPr>
            </a:pPr>
            <a:r>
              <a:t>Gen0-&gt;Gen3: 48%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06039" y="1737360"/>
            <a:ext cx="1691640" cy="2468880"/>
          </a:xfrm>
          <a:prstGeom prst="roundRect">
            <a:avLst/>
          </a:prstGeom>
          <a:solidFill>
            <a:srgbClr val="151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97479" y="182880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45A2F8"/>
                </a:solidFill>
                <a:latin typeface="Arial"/>
              </a:defRPr>
            </a:pPr>
            <a:r>
              <a:t>💻 编码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79" y="2194560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F4444"/>
                </a:solidFill>
                <a:latin typeface="Arial"/>
              </a:defRPr>
            </a:pPr>
            <a:r>
              <a:t>β=0.33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97479" y="2697480"/>
            <a:ext cx="1508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000" b="0">
                <a:solidFill>
                  <a:srgbClr val="9498A2"/>
                </a:solidFill>
                <a:latin typeface="Arial"/>
              </a:defRPr>
            </a:pPr>
            <a:r>
              <a:t>语法结构</a:t>
            </a:r>
          </a:p>
          <a:p>
            <a:pPr algn="ctr">
              <a:spcAft>
                <a:spcPts val="400"/>
              </a:spcAft>
              <a:defRPr sz="1000" b="0">
                <a:solidFill>
                  <a:srgbClr val="9498A2"/>
                </a:solidFill>
                <a:latin typeface="Arial"/>
              </a:defRPr>
            </a:pPr>
            <a:r>
              <a:t>算法一致性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80359" y="4297679"/>
            <a:ext cx="27432" cy="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80359" y="4297679"/>
            <a:ext cx="27432" cy="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80359" y="4297679"/>
            <a:ext cx="27432" cy="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97479" y="4023360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98A2"/>
                </a:solidFill>
                <a:latin typeface="Arial"/>
              </a:defRPr>
            </a:pPr>
            <a:r>
              <a:t>Gen0-&gt;Gen3: 45%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80559" y="1737360"/>
            <a:ext cx="1691640" cy="2468880"/>
          </a:xfrm>
          <a:prstGeom prst="roundRect">
            <a:avLst/>
          </a:prstGeom>
          <a:solidFill>
            <a:srgbClr val="151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1999" y="182880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45A2F8"/>
                </a:solidFill>
                <a:latin typeface="Arial"/>
              </a:defRPr>
            </a:pPr>
            <a:r>
              <a:t>📚 事实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1999" y="2194560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4D399"/>
                </a:solidFill>
                <a:latin typeface="Arial"/>
              </a:defRPr>
            </a:pPr>
            <a:r>
              <a:t>β=0.28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1999" y="2697480"/>
            <a:ext cx="1508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000" b="0">
                <a:solidFill>
                  <a:srgbClr val="9498A2"/>
                </a:solidFill>
                <a:latin typeface="Arial"/>
              </a:defRPr>
            </a:pPr>
            <a:r>
              <a:t>知识准确度</a:t>
            </a:r>
          </a:p>
          <a:p>
            <a:pPr algn="ctr">
              <a:spcAft>
                <a:spcPts val="400"/>
              </a:spcAft>
              <a:defRPr sz="1000" b="0">
                <a:solidFill>
                  <a:srgbClr val="9498A2"/>
                </a:solidFill>
                <a:latin typeface="Arial"/>
              </a:defRPr>
            </a:pPr>
            <a:r>
              <a:t>引用完整性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54879" y="4297679"/>
            <a:ext cx="27432" cy="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754879" y="4297679"/>
            <a:ext cx="27432" cy="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754879" y="4297679"/>
            <a:ext cx="27432" cy="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1999" y="4023360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98A2"/>
                </a:solidFill>
                <a:latin typeface="Arial"/>
              </a:defRPr>
            </a:pPr>
            <a:r>
              <a:t>Gen0-&gt;Gen3: 52%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55079" y="1737360"/>
            <a:ext cx="1691640" cy="2468880"/>
          </a:xfrm>
          <a:prstGeom prst="roundRect">
            <a:avLst/>
          </a:prstGeom>
          <a:solidFill>
            <a:srgbClr val="151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19" y="182880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45A2F8"/>
                </a:solidFill>
                <a:latin typeface="Arial"/>
              </a:defRPr>
            </a:pPr>
            <a:r>
              <a:t>🧠 逻辑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19" y="2194560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F4444"/>
                </a:solidFill>
                <a:latin typeface="Arial"/>
              </a:defRPr>
            </a:pPr>
            <a:r>
              <a:t>β=0.34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19" y="2697480"/>
            <a:ext cx="1508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000" b="0">
                <a:solidFill>
                  <a:srgbClr val="9498A2"/>
                </a:solidFill>
                <a:latin typeface="Arial"/>
              </a:defRPr>
            </a:pPr>
            <a:r>
              <a:t>推理链的连贯性保持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29399" y="4297679"/>
            <a:ext cx="27432" cy="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629399" y="4297679"/>
            <a:ext cx="27432" cy="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629399" y="4297679"/>
            <a:ext cx="27432" cy="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46519" y="4023360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98A2"/>
                </a:solidFill>
                <a:latin typeface="Arial"/>
              </a:defRPr>
            </a:pPr>
            <a:r>
              <a:t>Gen0-&gt;Gen3: 44%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29600" y="1737360"/>
            <a:ext cx="1691640" cy="2468880"/>
          </a:xfrm>
          <a:prstGeom prst="roundRect">
            <a:avLst/>
          </a:prstGeom>
          <a:solidFill>
            <a:srgbClr val="151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21040" y="182880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45A2F8"/>
                </a:solidFill>
                <a:latin typeface="Arial"/>
              </a:defRPr>
            </a:pPr>
            <a:r>
              <a:t>🎨 创意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2194560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59E0B"/>
                </a:solidFill>
                <a:latin typeface="Arial"/>
              </a:defRPr>
            </a:pPr>
            <a:r>
              <a:t>β=0.31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2697480"/>
            <a:ext cx="1508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000" b="0">
                <a:solidFill>
                  <a:srgbClr val="9498A2"/>
                </a:solidFill>
                <a:latin typeface="Arial"/>
              </a:defRPr>
            </a:pPr>
            <a:r>
              <a:t>风格一致性</a:t>
            </a:r>
          </a:p>
          <a:p>
            <a:pPr algn="ctr">
              <a:spcAft>
                <a:spcPts val="400"/>
              </a:spcAft>
              <a:defRPr sz="1000" b="0">
                <a:solidFill>
                  <a:srgbClr val="9498A2"/>
                </a:solidFill>
                <a:latin typeface="Arial"/>
              </a:defRPr>
            </a:pPr>
            <a:r>
              <a:t>叙事结构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503920" y="4297679"/>
            <a:ext cx="27432" cy="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503920" y="4297679"/>
            <a:ext cx="27432" cy="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503920" y="4297679"/>
            <a:ext cx="27432" cy="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21040" y="4023360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98A2"/>
                </a:solidFill>
                <a:latin typeface="Arial"/>
              </a:defRPr>
            </a:pPr>
            <a:r>
              <a:t>Gen0-&gt;Gen3: 48%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104120" y="1737360"/>
            <a:ext cx="1691640" cy="2468880"/>
          </a:xfrm>
          <a:prstGeom prst="roundRect">
            <a:avLst/>
          </a:prstGeom>
          <a:solidFill>
            <a:srgbClr val="151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195560" y="182880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45A2F8"/>
                </a:solidFill>
                <a:latin typeface="Arial"/>
              </a:defRPr>
            </a:pPr>
            <a:r>
              <a:t>🛡 安全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195560" y="2194560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4D399"/>
                </a:solidFill>
                <a:latin typeface="Arial"/>
              </a:defRPr>
            </a:pPr>
            <a:r>
              <a:t>β=0.27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195560" y="2697480"/>
            <a:ext cx="1508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000" b="0">
                <a:solidFill>
                  <a:srgbClr val="9498A2"/>
                </a:solidFill>
                <a:latin typeface="Arial"/>
              </a:defRPr>
            </a:pPr>
            <a:r>
              <a:t>安全边界的递归维持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378440" y="4297679"/>
            <a:ext cx="27432" cy="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0378440" y="4297679"/>
            <a:ext cx="27432" cy="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0378440" y="4297679"/>
            <a:ext cx="27432" cy="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195560" y="4023360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98A2"/>
                </a:solidFill>
                <a:latin typeface="Arial"/>
              </a:defRPr>
            </a:pPr>
            <a:r>
              <a:t>Gen0-&gt;Gen3: 53%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14400" y="5029200"/>
            <a:ext cx="10332720" cy="1280160"/>
          </a:xfrm>
          <a:prstGeom prst="round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371600" y="512064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D399"/>
                </a:solidFill>
                <a:latin typeface="Arial"/>
              </a:defRPr>
            </a:pPr>
            <a:r>
              <a:t>💡 差异化诊断价值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371600" y="5532120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9498A2"/>
                </a:solidFill>
                <a:latin typeface="Arial"/>
              </a:defRPr>
            </a:pPr>
            <a:r>
              <a:t>Claude 家族：安全 β=0.27（最好），逻辑 β=0.34（最弱）-&gt; 逻辑一致性是 Claude 的递归短板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9498A2"/>
                </a:solidFill>
                <a:latin typeface="Arial"/>
              </a:defRPr>
            </a:pPr>
            <a:r>
              <a:t>不同能力维度的 β 差异 -&gt; 精准指出训练数据盲区 -&gt; 模型厂商可据此优化下一轮训练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Arial"/>
              </a:defRPr>
            </a:pPr>
            <a:r>
              <a:t>10/14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Arial"/>
              </a:defRPr>
            </a:pPr>
            <a:r>
              <a:t>三层执行者退化诊断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80160"/>
            <a:ext cx="2286000" cy="45720"/>
          </a:xfrm>
          <a:prstGeom prst="rect">
            <a:avLst/>
          </a:prstGeom>
          <a:solidFill>
            <a:srgbClr val="45A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98A2"/>
                </a:solidFill>
                <a:latin typeface="Arial"/>
              </a:defRPr>
            </a:pPr>
            <a:r>
              <a:t>β 告诉你“衰减多少”，执行者诊断告诉你“哪里先崩溃”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103120"/>
            <a:ext cx="3200400" cy="3474720"/>
          </a:xfrm>
          <a:prstGeom prst="roundRect">
            <a:avLst/>
          </a:prstGeom>
          <a:solidFill>
            <a:srgbClr val="151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103120"/>
            <a:ext cx="3200400" cy="640080"/>
          </a:xfrm>
          <a:prstGeom prst="rect">
            <a:avLst/>
          </a:prstGeom>
          <a:solidFill>
            <a:srgbClr val="45A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E-I 公理层  (α=0.40)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880360"/>
            <a:ext cx="2834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9498A2"/>
                </a:solidFill>
                <a:latin typeface="Arial"/>
              </a:defRPr>
            </a:pPr>
            <a:r>
              <a:t>逻辑密度下降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9498A2"/>
                </a:solidFill>
                <a:latin typeface="Arial"/>
              </a:defRPr>
            </a:pPr>
            <a:r>
              <a:t>句法变异度偏移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9498A2"/>
                </a:solidFill>
                <a:latin typeface="Arial"/>
              </a:defRPr>
            </a:pPr>
            <a:r>
              <a:t>-&gt; 深层推理能力退化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4572000"/>
            <a:ext cx="2926080" cy="868680"/>
          </a:xfrm>
          <a:prstGeom prst="roundRect">
            <a:avLst/>
          </a:prstGeom>
          <a:solidFill>
            <a:srgbClr val="121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466344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100" b="0">
                <a:solidFill>
                  <a:srgbClr val="6B7280"/>
                </a:solidFill>
                <a:latin typeface="Arial"/>
              </a:defRPr>
            </a:pPr>
            <a:r>
              <a:t>最先崩溃，衰减最快</a:t>
            </a:r>
          </a:p>
          <a:p>
            <a:pPr algn="ctr">
              <a:spcAft>
                <a:spcPts val="400"/>
              </a:spcAft>
              <a:defRPr sz="1100" b="0">
                <a:solidFill>
                  <a:srgbClr val="6B7280"/>
                </a:solidFill>
                <a:latin typeface="Arial"/>
              </a:defRPr>
            </a:pPr>
            <a:r>
              <a:t>对应模型的核心推理结构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2103120"/>
            <a:ext cx="3200400" cy="3474720"/>
          </a:xfrm>
          <a:prstGeom prst="roundRect">
            <a:avLst/>
          </a:prstGeom>
          <a:solidFill>
            <a:srgbClr val="151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60" y="2103120"/>
            <a:ext cx="3200400" cy="6400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1488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E-II 尺度层  (α=0.20)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880360"/>
            <a:ext cx="2834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9498A2"/>
                </a:solidFill>
                <a:latin typeface="Arial"/>
              </a:defRPr>
            </a:pPr>
            <a:r>
              <a:t>二元组重复增加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9498A2"/>
                </a:solidFill>
                <a:latin typeface="Arial"/>
              </a:defRPr>
            </a:pPr>
            <a:r>
              <a:t>填充词比例上升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9498A2"/>
                </a:solidFill>
                <a:latin typeface="Arial"/>
              </a:defRPr>
            </a:pPr>
            <a:r>
              <a:t>词汇多样性下降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9498A2"/>
                </a:solidFill>
                <a:latin typeface="Arial"/>
              </a:defRPr>
            </a:pPr>
            <a:r>
              <a:t>-&gt; 表达质量下降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17720" y="4572000"/>
            <a:ext cx="2926080" cy="868680"/>
          </a:xfrm>
          <a:prstGeom prst="roundRect">
            <a:avLst/>
          </a:prstGeom>
          <a:solidFill>
            <a:srgbClr val="121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0" y="466344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100" b="0">
                <a:solidFill>
                  <a:srgbClr val="6B7280"/>
                </a:solidFill>
                <a:latin typeface="Arial"/>
              </a:defRPr>
            </a:pPr>
            <a:r>
              <a:t>中等速度衰减</a:t>
            </a:r>
          </a:p>
          <a:p>
            <a:pPr algn="ctr">
              <a:spcAft>
                <a:spcPts val="400"/>
              </a:spcAft>
              <a:defRPr sz="1100" b="0">
                <a:solidFill>
                  <a:srgbClr val="6B7280"/>
                </a:solidFill>
                <a:latin typeface="Arial"/>
              </a:defRPr>
            </a:pPr>
            <a:r>
              <a:t>对应文本流畅度与多样性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2103120"/>
            <a:ext cx="3200400" cy="3474720"/>
          </a:xfrm>
          <a:prstGeom prst="roundRect">
            <a:avLst/>
          </a:prstGeom>
          <a:solidFill>
            <a:srgbClr val="151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20" y="2103120"/>
            <a:ext cx="3200400" cy="6400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60" y="21488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E-III 边界层  (α=0.08)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880360"/>
            <a:ext cx="2834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9498A2"/>
                </a:solidFill>
                <a:latin typeface="Arial"/>
              </a:defRPr>
            </a:pPr>
            <a:r>
              <a:t>专名大小写错误增加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9498A2"/>
                </a:solidFill>
                <a:latin typeface="Arial"/>
              </a:defRPr>
            </a:pPr>
            <a:r>
              <a:t>非整数比例下降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9498A2"/>
                </a:solidFill>
                <a:latin typeface="Arial"/>
              </a:defRPr>
            </a:pPr>
            <a:r>
              <a:t>-&gt; 格式规范退化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83880" y="4572000"/>
            <a:ext cx="2926080" cy="868680"/>
          </a:xfrm>
          <a:prstGeom prst="roundRect">
            <a:avLst/>
          </a:prstGeom>
          <a:solidFill>
            <a:srgbClr val="121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466344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100" b="0">
                <a:solidFill>
                  <a:srgbClr val="6B7280"/>
                </a:solidFill>
                <a:latin typeface="Arial"/>
              </a:defRPr>
            </a:pPr>
            <a:r>
              <a:t>衰减最慢但最先被感知</a:t>
            </a:r>
          </a:p>
          <a:p>
            <a:pPr algn="ctr">
              <a:spcAft>
                <a:spcPts val="400"/>
              </a:spcAft>
              <a:defRPr sz="1100" b="0">
                <a:solidFill>
                  <a:srgbClr val="6B7280"/>
                </a:solidFill>
                <a:latin typeface="Arial"/>
              </a:defRPr>
            </a:pPr>
            <a:r>
              <a:t>格式化错误最容易被用户注意到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9436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4D399"/>
                </a:solidFill>
                <a:latin typeface="Arial"/>
              </a:defRPr>
            </a:pPr>
            <a:r>
              <a:t>不同模型有不同的退化指纹 — 这是训练优化的精准输入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Arial"/>
              </a:defRPr>
            </a:pPr>
            <a:r>
              <a:t>11/14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Arial"/>
              </a:defRPr>
            </a:pPr>
            <a:r>
              <a:t>理论根基：约束残差框架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80160"/>
            <a:ext cx="2286000" cy="45720"/>
          </a:xfrm>
          <a:prstGeom prst="rect">
            <a:avLst/>
          </a:prstGeom>
          <a:solidFill>
            <a:srgbClr val="45A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737360"/>
            <a:ext cx="5486400" cy="4114800"/>
          </a:xfrm>
          <a:prstGeom prst="roundRect">
            <a:avLst/>
          </a:prstGeom>
          <a:solidFill>
            <a:srgbClr val="151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1828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5A2F8"/>
                </a:solidFill>
                <a:latin typeface="Arial"/>
              </a:defRPr>
            </a:pPr>
            <a:r>
              <a:t>核心思想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3774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5A2F8"/>
                </a:solidFill>
                <a:latin typeface="Arial"/>
              </a:defRPr>
            </a:pPr>
            <a:r>
              <a:t>1. 约束即结构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651760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9498A2"/>
                </a:solidFill>
                <a:latin typeface="Arial"/>
              </a:defRPr>
            </a:pPr>
            <a:r>
              <a:t>每个 LLM 输出受 5 层约束支配：事实、语法、风格、安全、连贯。这些约束构成“信息骨架”。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32918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5A2F8"/>
                </a:solidFill>
                <a:latin typeface="Arial"/>
              </a:defRPr>
            </a:pPr>
            <a:r>
              <a:t>2. 递归即损耗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3566160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9498A2"/>
                </a:solidFill>
                <a:latin typeface="Arial"/>
              </a:defRPr>
            </a:pPr>
            <a:r>
              <a:t>当输出作为新输入时，约束不会完美传递。就像传话游戏，信息每传一次就丢失一部分。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42062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5A2F8"/>
                </a:solidFill>
                <a:latin typeface="Arial"/>
              </a:defRPr>
            </a:pPr>
            <a:r>
              <a:t>3. Π 量化损耗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4480560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9498A2"/>
                </a:solidFill>
                <a:latin typeface="Arial"/>
              </a:defRPr>
            </a:pPr>
            <a:r>
              <a:t>Π = Σ∇σᵢ — 将 5 个约束维度的梯度求和，得到“约束残差”的标量度量。||Π|| 的衰减率 = β。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51206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5A2F8"/>
                </a:solidFill>
                <a:latin typeface="Arial"/>
              </a:defRPr>
            </a:pPr>
            <a:r>
              <a:t>4. P1-P4 可验证预测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5394960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9498A2"/>
                </a:solidFill>
                <a:latin typeface="Arial"/>
              </a:defRPr>
            </a:pPr>
            <a:r>
              <a:t>P1: β&gt;0（所有模型都衰减）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9498A2"/>
                </a:solidFill>
                <a:latin typeface="Arial"/>
              </a:defRPr>
            </a:pPr>
            <a:r>
              <a:t>P2: β 家族内一致（跨规模验证）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9498A2"/>
                </a:solidFill>
                <a:latin typeface="Arial"/>
              </a:defRPr>
            </a:pPr>
            <a:r>
              <a:t>P3: β 在神经元层面可观测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9498A2"/>
                </a:solidFill>
                <a:latin typeface="Arial"/>
              </a:defRPr>
            </a:pPr>
            <a:r>
              <a:t>P4: β 能预测下游任务损失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0" y="1737360"/>
            <a:ext cx="4389120" cy="4114800"/>
          </a:xfrm>
          <a:prstGeom prst="roundRect">
            <a:avLst/>
          </a:prstGeom>
          <a:solidFill>
            <a:srgbClr val="151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0" y="182880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4D399"/>
                </a:solidFill>
                <a:latin typeface="Arial"/>
              </a:defRPr>
            </a:pPr>
            <a:r>
              <a:t>预测验证状态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237744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P1: β &gt; 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260604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4D399"/>
                </a:solidFill>
                <a:latin typeface="Arial"/>
              </a:defRPr>
            </a:pPr>
            <a:r>
              <a:t>✅ 8/8 模型验证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288036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P2: 家族常数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310896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4D399"/>
                </a:solidFill>
                <a:latin typeface="Arial"/>
              </a:defRPr>
            </a:pPr>
            <a:r>
              <a:t>✅ 3/3 家族验证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338328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P3: 神经元层面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361188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59E0B"/>
                </a:solidFill>
                <a:latin typeface="Arial"/>
              </a:defRPr>
            </a:pPr>
            <a:r>
              <a:t>⏳ 7B 预实验完成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388620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P4: 下游预测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411480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4D399"/>
                </a:solidFill>
                <a:latin typeface="Arial"/>
              </a:defRPr>
            </a:pPr>
            <a:r>
              <a:t>✅ r=0.79 校准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0" y="4480560"/>
            <a:ext cx="4389120" cy="1371600"/>
          </a:xfrm>
          <a:prstGeom prst="round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0" y="4572000"/>
            <a:ext cx="3931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45A2F8"/>
                </a:solidFill>
                <a:latin typeface="Arial"/>
              </a:defRPr>
            </a:pPr>
            <a:r>
              <a:t>与 LMArena 的本质差异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9498A2"/>
                </a:solidFill>
                <a:latin typeface="Arial"/>
              </a:defRPr>
            </a:pPr>
            <a:r>
              <a:t>LMArena: 统计相关性（投票胜率）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FFFFFF"/>
                </a:solidFill>
                <a:latin typeface="Arial"/>
              </a:defRPr>
            </a:pPr>
            <a:r>
              <a:t>DecayMonitor: 因果机制（约束坍缩）</a:t>
            </a:r>
          </a:p>
          <a:p>
            <a:pPr algn="l">
              <a:spcAft>
                <a:spcPts val="400"/>
              </a:spcAft>
              <a:defRPr sz="1400" b="1">
                <a:solidFill>
                  <a:srgbClr val="34D399"/>
                </a:solidFill>
                <a:latin typeface="Arial"/>
              </a:defRPr>
            </a:pPr>
            <a:r>
              <a:t>-&gt; 我们是“为什么”，不只是“是什么”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Arial"/>
              </a:defRPr>
            </a:pPr>
            <a:r>
              <a:t>12/14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Arial"/>
              </a:defRPr>
            </a:pPr>
            <a:r>
              <a:t>商业模式：免费榜 + 付费服务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80160"/>
            <a:ext cx="2286000" cy="45720"/>
          </a:xfrm>
          <a:prstGeom prst="rect">
            <a:avLst/>
          </a:prstGeom>
          <a:solidFill>
            <a:srgbClr val="45A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737360"/>
            <a:ext cx="4846320" cy="2011680"/>
          </a:xfrm>
          <a:prstGeom prst="roundRect">
            <a:avLst/>
          </a:prstGeom>
          <a:solidFill>
            <a:srgbClr val="151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18288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5A2F8"/>
                </a:solidFill>
                <a:latin typeface="Arial"/>
              </a:defRPr>
            </a:pPr>
            <a:r>
              <a:t>🆓 免费榜 -- 引流 + 建权威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377440"/>
            <a:ext cx="4389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9498A2"/>
                </a:solidFill>
                <a:latin typeface="Arial"/>
              </a:defRPr>
            </a:pPr>
            <a:r>
              <a:t>decaymonitor.ai 首页 = β 排行榜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9498A2"/>
                </a:solidFill>
                <a:latin typeface="Arial"/>
              </a:defRPr>
            </a:pPr>
            <a:r>
              <a:t>显示 10+ 模型的全局 β 排名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9498A2"/>
                </a:solidFill>
                <a:latin typeface="Arial"/>
              </a:defRPr>
            </a:pPr>
            <a:r>
              <a:t>6 维能力热力图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9498A2"/>
                </a:solidFill>
                <a:latin typeface="Arial"/>
              </a:defRPr>
            </a:pPr>
            <a:r>
              <a:t>模型详情页（衰减曲线 + 诊断）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9498A2"/>
                </a:solidFill>
                <a:latin typeface="Arial"/>
              </a:defRPr>
            </a:pPr>
            <a:r>
              <a:t>模型对比（2-4 模型并排）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37360"/>
            <a:ext cx="2377440" cy="2011680"/>
          </a:xfrm>
          <a:prstGeom prst="roundRect">
            <a:avLst/>
          </a:prstGeom>
          <a:solidFill>
            <a:srgbClr val="151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4D399"/>
                </a:solidFill>
                <a:latin typeface="Arial"/>
              </a:defRPr>
            </a:pPr>
            <a:r>
              <a:t>💼 Pro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37744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9498A2"/>
                </a:solidFill>
                <a:latin typeface="Arial"/>
              </a:defRPr>
            </a:pPr>
            <a:r>
              <a:t>$1,499/次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9498A2"/>
                </a:solidFill>
                <a:latin typeface="Arial"/>
              </a:defRPr>
            </a:pPr>
            <a:r>
              <a:t>闭门评测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9498A2"/>
                </a:solidFill>
                <a:latin typeface="Arial"/>
              </a:defRPr>
            </a:pPr>
            <a:r>
              <a:t>n=100 全量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9498A2"/>
                </a:solidFill>
                <a:latin typeface="Arial"/>
              </a:defRPr>
            </a:pPr>
            <a:r>
              <a:t>深度诊断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9498A2"/>
                </a:solidFill>
                <a:latin typeface="Arial"/>
              </a:defRPr>
            </a:pPr>
            <a:r>
              <a:t>PDF 报告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737360"/>
            <a:ext cx="2286000" cy="2011680"/>
          </a:xfrm>
          <a:prstGeom prst="roundRect">
            <a:avLst/>
          </a:prstGeom>
          <a:solidFill>
            <a:srgbClr val="151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35440" y="18288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C3AED"/>
                </a:solidFill>
                <a:latin typeface="Arial"/>
              </a:defRPr>
            </a:pPr>
            <a:r>
              <a:t>🏢 Enterprise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0" y="237744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9498A2"/>
                </a:solidFill>
                <a:latin typeface="Arial"/>
              </a:defRPr>
            </a:pPr>
            <a:r>
              <a:t>$4,999/月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9498A2"/>
                </a:solidFill>
                <a:latin typeface="Arial"/>
              </a:defRPr>
            </a:pPr>
            <a:r>
              <a:t>持续评测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9498A2"/>
                </a:solidFill>
                <a:latin typeface="Arial"/>
              </a:defRPr>
            </a:pPr>
            <a:r>
              <a:t>β 历史追踪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9498A2"/>
                </a:solidFill>
                <a:latin typeface="Arial"/>
              </a:defRPr>
            </a:pPr>
            <a:r>
              <a:t>训练数据诊断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9498A2"/>
                </a:solidFill>
                <a:latin typeface="Arial"/>
              </a:defRPr>
            </a:pPr>
            <a:r>
              <a:t>Slack 集成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114800"/>
            <a:ext cx="10332720" cy="2194560"/>
          </a:xfrm>
          <a:prstGeom prst="roundRect">
            <a:avLst/>
          </a:prstGeom>
          <a:solidFill>
            <a:srgbClr val="151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420624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5A2F8"/>
                </a:solidFill>
                <a:latin typeface="Arial"/>
              </a:defRPr>
            </a:pPr>
            <a:r>
              <a:t>收入预测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46177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5A2F8"/>
                </a:solidFill>
                <a:latin typeface="Arial"/>
              </a:defRPr>
            </a:pPr>
            <a:r>
              <a:t>时间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46177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5A2F8"/>
                </a:solidFill>
                <a:latin typeface="Arial"/>
              </a:defRPr>
            </a:pPr>
            <a:r>
              <a:t>免费模型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46177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5A2F8"/>
                </a:solidFill>
                <a:latin typeface="Arial"/>
              </a:defRPr>
            </a:pPr>
            <a:r>
              <a:t>Pro/月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6177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5A2F8"/>
                </a:solidFill>
                <a:latin typeface="Arial"/>
              </a:defRPr>
            </a:pPr>
            <a:r>
              <a:t>Enterprise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46177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5A2F8"/>
                </a:solidFill>
                <a:latin typeface="Arial"/>
              </a:defRPr>
            </a:pPr>
            <a:r>
              <a:t>月收入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46177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5A2F8"/>
                </a:solidFill>
                <a:latin typeface="Arial"/>
              </a:defRPr>
            </a:pPr>
            <a:r>
              <a:t>月成本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49377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Arial"/>
              </a:defRPr>
            </a:pPr>
            <a:r>
              <a:t>上线时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49377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49377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49377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49377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4D399"/>
                </a:solidFill>
                <a:latin typeface="Arial"/>
              </a:defRPr>
            </a:pPr>
            <a:r>
              <a:t>$0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49377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F4444"/>
                </a:solidFill>
                <a:latin typeface="Arial"/>
              </a:defRPr>
            </a:pPr>
            <a:r>
              <a:t>$150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45920" y="528523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Arial"/>
              </a:defRPr>
            </a:pPr>
            <a:r>
              <a:t>6个月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74720" y="528523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Arial"/>
              </a:defRPr>
            </a:pPr>
            <a:r>
              <a:t>15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0" y="528523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528523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0" y="528523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4D399"/>
                </a:solidFill>
                <a:latin typeface="Arial"/>
              </a:defRPr>
            </a:pPr>
            <a:r>
              <a:t>$9,500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0" y="528523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F4444"/>
                </a:solidFill>
                <a:latin typeface="Arial"/>
              </a:defRPr>
            </a:pPr>
            <a:r>
              <a:t>$150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45920" y="5632704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Arial"/>
              </a:defRPr>
            </a:pPr>
            <a:r>
              <a:t>12个月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74720" y="5632704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Arial"/>
              </a:defRPr>
            </a:pPr>
            <a:r>
              <a:t>25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0" y="5632704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5632704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46720" y="5632704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4D399"/>
                </a:solidFill>
                <a:latin typeface="Arial"/>
              </a:defRPr>
            </a:pPr>
            <a:r>
              <a:t>$22,000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0" y="5632704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F4444"/>
                </a:solidFill>
                <a:latin typeface="Arial"/>
              </a:defRPr>
            </a:pPr>
            <a:r>
              <a:t>$150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45920" y="598017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Arial"/>
              </a:defRPr>
            </a:pPr>
            <a:r>
              <a:t>18个月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74720" y="598017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Arial"/>
              </a:defRPr>
            </a:pPr>
            <a:r>
              <a:t>40+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0" y="598017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Arial"/>
              </a:defRPr>
            </a:pPr>
            <a:r>
              <a:t>15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0" y="598017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46720" y="598017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4D399"/>
                </a:solidFill>
                <a:latin typeface="Arial"/>
              </a:defRPr>
            </a:pPr>
            <a:r>
              <a:t>$47,500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01200" y="598017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F4444"/>
                </a:solidFill>
                <a:latin typeface="Arial"/>
              </a:defRPr>
            </a:pPr>
            <a:r>
              <a:t>$150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Arial"/>
              </a:defRPr>
            </a:pPr>
            <a:r>
              <a:t>13/14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Arial"/>
              </a:defRPr>
            </a:pPr>
            <a:r>
              <a:t>路线图 &amp; 行动号召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80160"/>
            <a:ext cx="2286000" cy="45720"/>
          </a:xfrm>
          <a:prstGeom prst="rect">
            <a:avLst/>
          </a:prstGeom>
          <a:solidFill>
            <a:srgbClr val="45A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1965960" cy="2377440"/>
          </a:xfrm>
          <a:prstGeom prst="roundRect">
            <a:avLst/>
          </a:prstGeom>
          <a:solidFill>
            <a:srgbClr val="151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1783080" cy="411480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Phase A 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42316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200" b="0">
                <a:solidFill>
                  <a:srgbClr val="9498A2"/>
                </a:solidFill>
                <a:latin typeface="Arial"/>
              </a:defRPr>
            </a:pPr>
            <a:r>
              <a:t>统一实验框架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65760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4D399"/>
                </a:solidFill>
                <a:latin typeface="Arial"/>
              </a:defRPr>
            </a:pPr>
            <a:r>
              <a:t>已完成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0" y="1737360"/>
            <a:ext cx="1965960" cy="2377440"/>
          </a:xfrm>
          <a:prstGeom prst="roundRect">
            <a:avLst/>
          </a:prstGeom>
          <a:solidFill>
            <a:srgbClr val="151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017520" y="1828800"/>
            <a:ext cx="1783080" cy="411480"/>
          </a:xfrm>
          <a:prstGeom prst="roundRect">
            <a:avLst/>
          </a:prstGeom>
          <a:solidFill>
            <a:srgbClr val="45A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Phase 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240" y="242316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200" b="0">
                <a:solidFill>
                  <a:srgbClr val="9498A2"/>
                </a:solidFill>
                <a:latin typeface="Arial"/>
              </a:defRPr>
            </a:pPr>
            <a:r>
              <a:t>科学严谨性验证</a:t>
            </a:r>
          </a:p>
          <a:p>
            <a:pPr algn="ctr">
              <a:spcAft>
                <a:spcPts val="400"/>
              </a:spcAft>
              <a:defRPr sz="1200" b="0">
                <a:solidFill>
                  <a:srgbClr val="9498A2"/>
                </a:solidFill>
                <a:latin typeface="Arial"/>
              </a:defRPr>
            </a:pPr>
            <a:r>
              <a:t>n=100, 跨家族, 下游校准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365760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5A2F8"/>
                </a:solidFill>
                <a:latin typeface="Arial"/>
              </a:defRPr>
            </a:pPr>
            <a:r>
              <a:t>进行中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20640" y="1737360"/>
            <a:ext cx="1965960" cy="2377440"/>
          </a:xfrm>
          <a:prstGeom prst="roundRect">
            <a:avLst/>
          </a:prstGeom>
          <a:solidFill>
            <a:srgbClr val="151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212080" y="1828800"/>
            <a:ext cx="1783080" cy="41148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Phase 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57800" y="242316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200" b="0">
                <a:solidFill>
                  <a:srgbClr val="9498A2"/>
                </a:solidFill>
                <a:latin typeface="Arial"/>
              </a:defRPr>
            </a:pPr>
            <a:r>
              <a:t>论文 + 开源</a:t>
            </a:r>
          </a:p>
          <a:p>
            <a:pPr algn="ctr">
              <a:spcAft>
                <a:spcPts val="400"/>
              </a:spcAft>
              <a:defRPr sz="1200" b="0">
                <a:solidFill>
                  <a:srgbClr val="9498A2"/>
                </a:solidFill>
                <a:latin typeface="Arial"/>
              </a:defRPr>
            </a:pPr>
            <a:r>
              <a:t>arXiv, pip install, HF Space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365760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7C3AED"/>
                </a:solidFill>
                <a:latin typeface="Arial"/>
              </a:defRPr>
            </a:pPr>
            <a:r>
              <a:t>2 个月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199" y="1737360"/>
            <a:ext cx="1965960" cy="2377440"/>
          </a:xfrm>
          <a:prstGeom prst="roundRect">
            <a:avLst/>
          </a:prstGeom>
          <a:solidFill>
            <a:srgbClr val="151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406639" y="1828800"/>
            <a:ext cx="1783080" cy="411480"/>
          </a:xfrm>
          <a:prstGeom prst="roundRect">
            <a:avLst/>
          </a:prstGeom>
          <a:solidFill>
            <a:srgbClr val="9498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Phase 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2359" y="242316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200" b="0">
                <a:solidFill>
                  <a:srgbClr val="9498A2"/>
                </a:solidFill>
                <a:latin typeface="Arial"/>
              </a:defRPr>
            </a:pPr>
            <a:r>
              <a:t>排行榜网站</a:t>
            </a:r>
          </a:p>
          <a:p>
            <a:pPr algn="ctr">
              <a:spcAft>
                <a:spcPts val="400"/>
              </a:spcAft>
              <a:defRPr sz="1200" b="0">
                <a:solidFill>
                  <a:srgbClr val="9498A2"/>
                </a:solidFill>
                <a:latin typeface="Arial"/>
              </a:defRPr>
            </a:pPr>
            <a:r>
              <a:t>React + FastAPI + 周更评测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39" y="365760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9498A2"/>
                </a:solidFill>
                <a:latin typeface="Arial"/>
              </a:defRPr>
            </a:pPr>
            <a:r>
              <a:t>4 个月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09760" y="1737360"/>
            <a:ext cx="1965960" cy="2377440"/>
          </a:xfrm>
          <a:prstGeom prst="roundRect">
            <a:avLst/>
          </a:prstGeom>
          <a:solidFill>
            <a:srgbClr val="151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601200" y="1828800"/>
            <a:ext cx="1783080" cy="411480"/>
          </a:xfrm>
          <a:prstGeom prst="roundRect">
            <a:avLst/>
          </a:prstGeom>
          <a:solidFill>
            <a:srgbClr val="9498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Phase 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46920" y="242316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200" b="0">
                <a:solidFill>
                  <a:srgbClr val="9498A2"/>
                </a:solidFill>
                <a:latin typeface="Arial"/>
              </a:defRPr>
            </a:pPr>
            <a:r>
              <a:t>付费服务</a:t>
            </a:r>
          </a:p>
          <a:p>
            <a:pPr algn="ctr">
              <a:spcAft>
                <a:spcPts val="400"/>
              </a:spcAft>
              <a:defRPr sz="1200" b="0">
                <a:solidFill>
                  <a:srgbClr val="9498A2"/>
                </a:solidFill>
                <a:latin typeface="Arial"/>
              </a:defRPr>
            </a:pPr>
            <a:r>
              <a:t>Pro + Enterprise + Stripe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365760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9498A2"/>
                </a:solidFill>
                <a:latin typeface="Arial"/>
              </a:defRPr>
            </a:pPr>
            <a:r>
              <a:t>6 个月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4480560"/>
            <a:ext cx="10332720" cy="1828800"/>
          </a:xfrm>
          <a:prstGeom prst="roundRect">
            <a:avLst/>
          </a:prstGeom>
          <a:solidFill>
            <a:srgbClr val="12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71600" y="457200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5A2F8"/>
                </a:solidFill>
                <a:latin typeface="Arial"/>
              </a:defRPr>
            </a:pPr>
            <a:r>
              <a:t>🚀 加入我们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51206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rial"/>
              </a:defRPr>
            </a:pPr>
            <a:r>
              <a:t>▸ 模型评测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54864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98A2"/>
                </a:solidFill>
                <a:latin typeface="Arial"/>
              </a:defRPr>
            </a:pPr>
            <a:r>
              <a:t>提交你的模型，获得 β 评级 -&gt; 出现在排行榜上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0" y="51206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rial"/>
              </a:defRPr>
            </a:pPr>
            <a:r>
              <a:t>▸ 投资合作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0" y="54864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98A2"/>
                </a:solidFill>
                <a:latin typeface="Arial"/>
              </a:defRPr>
            </a:pPr>
            <a:r>
              <a:t>评测赛道最后一个空白维度 -&gt; 参照 LMArena $3000 万 ARR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51206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rial"/>
              </a:defRPr>
            </a:pPr>
            <a:r>
              <a:t>▸ 学术合作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60" y="54864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98A2"/>
                </a:solidFill>
                <a:latin typeface="Arial"/>
              </a:defRPr>
            </a:pPr>
            <a:r>
              <a:t>共同建立递归稳定性评测标准 -&gt; 联合论文 + 联合提案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6400800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  <a:latin typeface="Arial"/>
              </a:defRPr>
            </a:pPr>
            <a:r>
              <a:t>decaymonitor.ai  ·  Beijing  ·  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Arial"/>
              </a:defRPr>
            </a:pPr>
            <a:r>
              <a:t>14/14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