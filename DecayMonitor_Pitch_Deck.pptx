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DecayMonitor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200" b="1">
                <a:solidFill>
                  <a:srgbClr val="5E5CE6"/>
                </a:solidFill>
                <a:latin typeface="Helvetica Neue"/>
              </a:defRPr>
              <a:lnSpc>
                <a:spcPct val="110000"/>
              </a:lnSpc>
            </a:pPr>
            <a:r>
              <a:t>LLM Recursive Stability  β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840480"/>
            <a:ext cx="3200400" cy="12700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The first benchmark for LLM self-consuming stability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DecayMonitor.ai  ·  Beijing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The Self-Consumption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Why recursive stability matters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Training Data → Model → Generated Content → Training Data →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Every generation adds noise.</a:t>
            </a:r>
            <a:br/>
            <a:r>
              <a:t>As LLM-generated content floods the internet,</a:t>
            </a:r>
            <a:br/>
            <a:r>
              <a:t>models increasingly train on their own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11680"/>
            <a:ext cx="4572000" cy="118872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5E5CE6"/>
                </a:solidFill>
                <a:latin typeface="Helvetica Neue"/>
              </a:defRPr>
              <a:lnSpc>
                <a:spcPct val="110000"/>
              </a:lnSpc>
            </a:pPr>
            <a:r>
              <a:t>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of web content will be AI-generated by 2027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383280"/>
            <a:ext cx="4572000" cy="118872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EF4444"/>
                </a:solidFill>
                <a:latin typeface="Helvetica Neue"/>
              </a:defRPr>
              <a:lnSpc>
                <a:spcPct val="110000"/>
              </a:lnSpc>
            </a:pPr>
            <a:r>
              <a:t>Model Collapse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Documented in Nature (Shumailov et al., 2024)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754880"/>
            <a:ext cx="4572000" cy="118872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3B82F6"/>
                </a:solidFill>
                <a:latin typeface="Helvetica Neue"/>
              </a:defRPr>
              <a:lnSpc>
                <a:spcPct val="110000"/>
              </a:lnSpc>
            </a:pPr>
            <a:r>
              <a:t>No Standard 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394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The industry has no way to measure recursive stability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The Evaluation Blindspot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All existing benchmarks measure single-pass quality. No one measures what happens across generations.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7772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MMLU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Knowledge breadth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194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Single-pass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515600" cy="7772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HumanEval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Code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1089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Pass@k on static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515600" cy="7772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Chatbot Arena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0233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Human preference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02335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Elo from pairwise votes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515600" cy="7772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HELM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9377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Multi-dimensional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93775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Holistic single-generation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515600" cy="777240"/>
          </a:xfrm>
          <a:prstGeom prst="roundRect">
            <a:avLst/>
          </a:prstGeom>
          <a:solidFill>
            <a:srgbClr val="5E5CE6"/>
          </a:solidFill>
          <a:ln w="12700">
            <a:solidFill>
              <a:srgbClr val="5E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8521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DecayMonitor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8521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Recursive stability 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85215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3B82F6"/>
                </a:solidFill>
                <a:latin typeface="Helvetica Neue"/>
              </a:defRPr>
              <a:lnSpc>
                <a:spcPct val="110000"/>
              </a:lnSpc>
            </a:pPr>
            <a:r>
              <a:t>Cross-generation constraint decay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β: The Recursive Stability Index</a:t>
            </a:r>
          </a:p>
        </p:txBody>
      </p:sp>
      <p:sp>
        <p:nvSpPr>
          <p:cNvPr id="3" name="Oval 2"/>
          <p:cNvSpPr/>
          <p:nvPr/>
        </p:nvSpPr>
        <p:spPr>
          <a:xfrm>
            <a:off x="4389120" y="1645920"/>
            <a:ext cx="2377440" cy="237744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2860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7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β measures how fast LLM-generated content degrades when models iterate on their own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50000"/>
              </a:lnSpc>
            </a:pPr>
            <a:r>
              <a:t>Sₙ = Sₙ₋₁ · (1 − β)    —    Recursive stability decay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50000"/>
              </a:lnSpc>
            </a:pPr>
            <a:r>
              <a:t>β ∈ [0.001, 0.55]    —    Lower β = more stable across generations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50000"/>
              </a:lnSpc>
            </a:pPr>
            <a:r>
              <a:t>Measured via constraint residual total_constraint = Σ|∇σᵢ|   —    No LLM judge dependency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Algorithm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CPU-only, rule-based, no model dependency — $0.50 per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1691640" cy="320040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Seed Text</a:t>
            </a:r>
            <a:br/>
            <a:r>
              <a:t>(Gen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2011680"/>
            <a:ext cx="1691640" cy="320040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16352" y="2286000"/>
            <a:ext cx="594360" cy="5943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23774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32004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API Generate</a:t>
            </a:r>
            <a:br/>
            <a:r>
              <a:t>Gen 1→2→3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9664" y="2011680"/>
            <a:ext cx="1691640" cy="320040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18304" y="2286000"/>
            <a:ext cx="594360" cy="59436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3774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32004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8 Text Features</a:t>
            </a:r>
            <a:br/>
            <a:r>
              <a:t>Rule-based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2011680"/>
            <a:ext cx="1691640" cy="320040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0256" y="2286000"/>
            <a:ext cx="594360" cy="5943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23774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32004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5D σ Mapping</a:t>
            </a:r>
            <a:br/>
            <a:r>
              <a:t>σ_fact, σ_syntax, σ_style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568" y="2011680"/>
            <a:ext cx="1691640" cy="320040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22208" y="228600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8" y="23774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32004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Π = Σ∇σᵢ</a:t>
            </a:r>
            <a:br/>
            <a:r>
              <a:t>Constraint residual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2011680"/>
            <a:ext cx="1691640" cy="320040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0" y="2286000"/>
            <a:ext cx="594360" cy="5943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23774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2004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Exponential Fit</a:t>
            </a:r>
            <a:br/>
            <a:r>
              <a:t>β = 1 − eˢˡᵒᵖᵉ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Fully reproducible  ·  CV = 3.3%  ·  Pre-registered model (no post-hoc selection bias)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9-Model β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Pre-registered exponential + total_constraint  ·  n = 100 seeds per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DeepSeek-Chat (V3)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2029968"/>
            <a:ext cx="7315200" cy="32004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31920" y="2029968"/>
            <a:ext cx="1284732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3812" y="2029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0.0281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GPT-4o-mini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532888"/>
            <a:ext cx="7315200" cy="32004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2532888"/>
            <a:ext cx="40462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5300" y="2532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0.0885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Llama 3.1 70B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3035808"/>
            <a:ext cx="7315200" cy="32004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3035808"/>
            <a:ext cx="422910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8180" y="3035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0.0925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Llama 3.1 8B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538728"/>
            <a:ext cx="7315200" cy="32004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31920" y="3538728"/>
            <a:ext cx="4306824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538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0.0942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GPT-4o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4041648"/>
            <a:ext cx="7315200" cy="32004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31920" y="4041648"/>
            <a:ext cx="45034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2500" y="40416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0.0985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DeepSeek-R1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544568"/>
            <a:ext cx="7315200" cy="32004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31920" y="4544568"/>
            <a:ext cx="4745736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45445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0.1038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Claude Sonnet 4.6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5047488"/>
            <a:ext cx="7315200" cy="32004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931920" y="5047488"/>
            <a:ext cx="4823459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92540" y="50474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0.1055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Claude Opus 4.6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0" y="5550408"/>
            <a:ext cx="7315200" cy="32004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31920" y="5550408"/>
            <a:ext cx="5468112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92" y="55504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0.1196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Claude Haiku 4.5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0" y="6053328"/>
            <a:ext cx="7315200" cy="32004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931920" y="6053328"/>
            <a:ext cx="6711696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0776" y="60533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0.1468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40000"/>
              </a:lnSpc>
            </a:pPr>
            <a:r>
              <a:t>DeepSeek-V3: 3.2x better than #2 — clearly separated leader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40000"/>
              </a:lnSpc>
            </a:pPr>
            <a:r>
              <a:t>Mid-tier (2−7): β ∈ [0.089, 0.106] — statistically indistinguishable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40000"/>
              </a:lnSpc>
            </a:pPr>
            <a:r>
              <a:t>Model family β is constant within families (OpenAI range=0.010, Llama range=0.002)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Per-Capability Decay Heatmap (Gen3 Sₙ)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creative_writing — the universal Achilles' 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2560320" y="18288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8288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8288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factual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8288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creative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8288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DeepSeek-Chat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2194560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21284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0791" y="2194560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1" y="221284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68112" y="2194560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8112" y="221284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85432" y="2194560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221284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2194560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21284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0072" y="2194560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221284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578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GPT-4o-mini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33472" y="2578608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3472" y="259689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0791" y="2578608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50791" y="259689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68112" y="2578608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68112" y="259689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85432" y="2578608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2" y="259689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02752" y="2578608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259689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20072" y="2578608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259689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GPT-4o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33472" y="2962656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33472" y="29809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50791" y="2962656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50791" y="29809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68112" y="2962656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8112" y="29809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85432" y="2962656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85432" y="29809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02752" y="2962656"/>
            <a:ext cx="128016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2" y="29809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20072" y="2962656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20072" y="298094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33467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Llama 3.1 70B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33472" y="3346704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33472" y="33649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50791" y="3346704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50791" y="33649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68112" y="3346704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68112" y="33649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85432" y="3346704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85432" y="33649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02752" y="3346704"/>
            <a:ext cx="128016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02752" y="33649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20072" y="3346704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20072" y="33649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3730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Llama 3.1 8B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33472" y="3730752"/>
            <a:ext cx="128016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33472" y="3749039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X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050791" y="3730752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50791" y="3749039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68112" y="3730752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68112" y="3749039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885432" y="3730752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85432" y="3749039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02752" y="3730752"/>
            <a:ext cx="128016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02752" y="3749039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X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720072" y="3730752"/>
            <a:ext cx="128016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20072" y="3749039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DeepSeek-R1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633472" y="4114800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33472" y="4133087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050791" y="4114800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50791" y="4133087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68112" y="4114800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68112" y="4133087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85432" y="4114800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85432" y="4133087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302752" y="4114800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02752" y="4133087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720072" y="4114800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720072" y="4133087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1520" y="4498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Claude Sonnet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633472" y="4498848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633472" y="451713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050791" y="4498848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50791" y="451713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468112" y="4498848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68112" y="451713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885432" y="4498848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885432" y="451713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302752" y="4498848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02752" y="451713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720072" y="4498848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20072" y="451713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1520" y="4882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Claude Opus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633472" y="4882896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33472" y="4901183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050791" y="4882896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050791" y="4901183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468112" y="4882896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68112" y="4901183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885432" y="4882896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885432" y="4901183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302752" y="4882896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02752" y="4901183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720072" y="4882896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20072" y="4901183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1520" y="5266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Claude Haiku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633472" y="5266944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633472" y="5285231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050791" y="5266944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050791" y="5285231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468112" y="5266944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68112" y="5285231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H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885432" y="5266944"/>
            <a:ext cx="1280160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85432" y="5285231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302752" y="5266944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302752" y="5285231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720072" y="5266944"/>
            <a:ext cx="128016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720072" y="5285231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31520" y="5925312"/>
            <a:ext cx="320040" cy="2286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43000" y="5907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Healthy &gt;0.8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291839" y="5925312"/>
            <a:ext cx="320040" cy="228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03320" y="5907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Degrading 0.5−0.8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852159" y="5925312"/>
            <a:ext cx="32004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263640" y="5907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Critical 0.3−0.5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412480" y="5925312"/>
            <a:ext cx="320040" cy="228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823959" y="59070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Collapsed &lt;0.3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31520" y="6382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9/9 models collapse or near-collapse on creative_writing  ·  factual_knowledge: 9/9 healthy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Scientific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Designed to withstand peer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606040" cy="347472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5E5CE6"/>
                </a:solidFill>
                <a:latin typeface="Helvetica Neue"/>
              </a:defRPr>
              <a:lnSpc>
                <a:spcPct val="110000"/>
              </a:lnSpc>
            </a:pPr>
            <a:r>
              <a:t>Test-Retest</a:t>
            </a:r>
            <a:br/>
            <a:r>
              <a:t>CV = 3.3%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1097280" cy="12700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Perfect reproduction</a:t>
            </a:r>
            <a:br/>
            <a:r>
              <a:t>β=0.0885 = 0.0885</a:t>
            </a:r>
            <a:br/>
            <a:r>
              <a:t>Post-hoc CV was 11.3%</a:t>
            </a:r>
            <a:br/>
            <a:r>
              <a:t>→ 3.4x improvement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2606040" cy="347472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3B82F6"/>
                </a:solidFill>
                <a:latin typeface="Helvetica Neue"/>
              </a:defRPr>
              <a:lnSpc>
                <a:spcPct val="110000"/>
              </a:lnSpc>
            </a:pPr>
            <a:r>
              <a:t>Bootstrap</a:t>
            </a:r>
            <a:br/>
            <a:r>
              <a:t>Convergence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3017520"/>
            <a:ext cx="109728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32004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β stabilizes at n≥60</a:t>
            </a:r>
            <a:br/>
            <a:r>
              <a:t>n=100 recommended</a:t>
            </a:r>
            <a:br/>
            <a:r>
              <a:t>CI width: 0.156</a:t>
            </a:r>
            <a:br/>
            <a:r>
              <a:t>30% narrower than n=36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606040" cy="347472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34D399"/>
                </a:solidFill>
                <a:latin typeface="Helvetica Neue"/>
              </a:defRPr>
              <a:lnSpc>
                <a:spcPct val="110000"/>
              </a:lnSpc>
            </a:pPr>
            <a:r>
              <a:t>Seed</a:t>
            </a:r>
            <a:br/>
            <a:r>
              <a:t>Sensitivity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017520"/>
            <a:ext cx="1097280" cy="127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Δ = 0.005</a:t>
            </a:r>
            <a:br/>
            <a:r>
              <a:t>Negligible impact</a:t>
            </a:r>
            <a:br/>
            <a:r>
              <a:t>Below measurement noise</a:t>
            </a:r>
            <a:br/>
            <a:r>
              <a:t>Different seed sets agree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011680"/>
            <a:ext cx="2606040" cy="347472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194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A78BFA"/>
                </a:solidFill>
                <a:latin typeface="Helvetica Neue"/>
              </a:defRPr>
              <a:lnSpc>
                <a:spcPct val="110000"/>
              </a:lnSpc>
            </a:pPr>
            <a:r>
              <a:t>Pre-Registered</a:t>
            </a:r>
            <a:br/>
            <a:r>
              <a:t>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3017520"/>
            <a:ext cx="109728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32004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No model/target competition</a:t>
            </a:r>
            <a:br/>
            <a:r>
              <a:t>Eliminates +184% inflation</a:t>
            </a:r>
            <a:br/>
            <a:r>
              <a:t>Exponential + total_constraint</a:t>
            </a:r>
            <a:br/>
            <a:r>
              <a:t>Honest β for every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Also validated: P3 neural collapse (λ_C=+0.0415, R²=0.884)  ·  4-family coverage  ·  Temperature 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Neural Validation: Constraint Attractor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Independent verification on Qwen2.5-1.5B — constraint diversity decays exponentially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5E5CE6"/>
                </a:solidFill>
                <a:latin typeface="Helvetica Neue"/>
              </a:defRPr>
              <a:lnSpc>
                <a:spcPct val="110000"/>
              </a:lnSpc>
            </a:pPr>
            <a:r>
              <a:t>P3 Rigorous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C_div(n) = C_div(0) · e^(−λ_C · n)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λ_C (decay rate)     = +0.0415  ✓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R² (exponential fit) = 0.884    ✓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Mean ||Π|| CV        = 0.301    ✓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Gen3/Gen0 ratio      = 0.926    ✓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Constraint diversity decays monotonically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across generations — Attractor Collapse confirmed.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011680"/>
            <a:ext cx="4846320" cy="411480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34D399"/>
                </a:solidFill>
                <a:latin typeface="Helvetica Neue"/>
              </a:defRPr>
              <a:lnSpc>
                <a:spcPct val="110000"/>
              </a:lnSpc>
            </a:pPr>
            <a:r>
              <a:t>What This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β is not just a statistical artifact —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it has a neural correlate.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As models self-consume: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• Constraint attractors collapse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• Generation patterns converge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• Response diversity decreases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This is the mechanism behind β.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30000"/>
              </a:lnSpc>
            </a:pPr>
            <a:r>
              <a:t>It's grounded in neural dynamics.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Free leaderboard + paid enterprise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520440" cy="411480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34D399"/>
                </a:solidFill>
                <a:latin typeface="Helvetica Neue"/>
              </a:defRPr>
              <a:lnSpc>
                <a:spcPct val="110000"/>
              </a:lnSpc>
            </a:pPr>
            <a:r>
              <a:t>Free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$0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200400"/>
            <a:ext cx="1371600" cy="127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Public β rankings</a:t>
            </a:r>
            <a:br/>
            <a:r>
              <a:t>6-capability heatmaps</a:t>
            </a:r>
            <a:br/>
            <a:r>
              <a:t>Model detail pages</a:t>
            </a:r>
            <a:br/>
            <a:r>
              <a:t>Cross-model comparison</a:t>
            </a:r>
            <a:br/>
            <a:r>
              <a:t>Weekly auto-refresh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520440" cy="4114800"/>
          </a:xfrm>
          <a:prstGeom prst="roundRect">
            <a:avLst/>
          </a:prstGeom>
          <a:solidFill>
            <a:srgbClr val="1C1C2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3B82F6"/>
                </a:solidFill>
                <a:latin typeface="Helvetica Neue"/>
              </a:defRPr>
              <a:lnSpc>
                <a:spcPct val="110000"/>
              </a:lnSpc>
            </a:pPr>
            <a:r>
              <a:t>Pro — Private 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$1,499/eval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79" y="3200400"/>
            <a:ext cx="137160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33832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Pre-release testing</a:t>
            </a:r>
            <a:br/>
            <a:r>
              <a:t>Results stay off leaderboard</a:t>
            </a:r>
            <a:br/>
            <a:r>
              <a:t>E-I/E-II/E-III deep diagnosis</a:t>
            </a:r>
            <a:br/>
            <a:r>
              <a:t>Anonymous competitor comparison</a:t>
            </a:r>
            <a:br/>
            <a:r>
              <a:t>PDF + CSV/JSONL raw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520440" cy="4114800"/>
          </a:xfrm>
          <a:prstGeom prst="roundRect">
            <a:avLst/>
          </a:prstGeom>
          <a:solidFill>
            <a:srgbClr val="1C1C2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A78BFA"/>
                </a:solidFill>
                <a:latin typeface="Helvetica Neue"/>
              </a:defRPr>
              <a:lnSpc>
                <a:spcPct val="110000"/>
              </a:lnSpc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$4,999/mo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3200400"/>
            <a:ext cx="13716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3832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Per-checkpoint β tracking</a:t>
            </a:r>
            <a:br/>
            <a:r>
              <a:t>Training data blindspot diagnosis</a:t>
            </a:r>
            <a:br/>
            <a:r>
              <a:t>Dedicated API endpoint</a:t>
            </a:r>
            <a:br/>
            <a:r>
              <a:t>Slack integration</a:t>
            </a:r>
            <a:br/>
            <a:r>
              <a:t>Quarterly strategy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Market reference: LMArena = $17B valuation, $30M ARR  ·  We add a new dimension to the LLM evaluation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Why DecayMonitor is defensible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1005840"/>
          </a:xfrm>
          <a:prstGeom prst="roundRect">
            <a:avLst/>
          </a:prstGeom>
          <a:solidFill>
            <a:srgbClr val="1C1C24"/>
          </a:solidFill>
          <a:ln w="12700">
            <a:solidFill>
              <a:srgbClr val="5E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5E5CE6"/>
                </a:solidFill>
                <a:latin typeface="Helvetica Neue"/>
              </a:defRPr>
              <a:lnSpc>
                <a:spcPct val="110000"/>
              </a:lnSpc>
            </a:pPr>
            <a:r>
              <a:t>Definition</a:t>
            </a:r>
            <a:br/>
            <a:r>
              <a:t>Ownership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148840"/>
            <a:ext cx="12700" cy="731520"/>
          </a:xfrm>
          <a:prstGeom prst="rect">
            <a:avLst/>
          </a:prstGeom>
          <a:solidFill>
            <a:srgbClr val="6B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210312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If 'recursive stability' becomes a standard evaluation dimension,</a:t>
            </a:r>
            <a:br/>
            <a:r>
              <a:t>the definer owns the category — like LMArena owns Elo for chatbots.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515600" cy="10058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3B82F6"/>
                </a:solidFill>
                <a:latin typeface="Helvetica Neue"/>
              </a:defRPr>
              <a:lnSpc>
                <a:spcPct val="110000"/>
              </a:lnSpc>
            </a:pPr>
            <a:r>
              <a:t>Full-Auto</a:t>
            </a:r>
            <a:br/>
            <a:r>
              <a:t>Low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291840"/>
            <a:ext cx="12700" cy="731520"/>
          </a:xfrm>
          <a:prstGeom prst="rect">
            <a:avLst/>
          </a:prstGeom>
          <a:solidFill>
            <a:srgbClr val="6B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24612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$0.50/model evaluation. CPU-only rule-based extraction.</a:t>
            </a:r>
            <a:br/>
            <a:r>
              <a:t>No GPU, no LLM judge, no 5M human votes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10515600" cy="10058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34D399"/>
                </a:solidFill>
                <a:latin typeface="Helvetica Neue"/>
              </a:defRPr>
              <a:lnSpc>
                <a:spcPct val="110000"/>
              </a:lnSpc>
            </a:pPr>
            <a:r>
              <a:t>Cross-Family</a:t>
            </a:r>
            <a:br/>
            <a:r>
              <a:t>β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434840"/>
            <a:ext cx="12700" cy="731520"/>
          </a:xfrm>
          <a:prstGeom prst="rect">
            <a:avLst/>
          </a:prstGeom>
          <a:solidFill>
            <a:srgbClr val="6B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438912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4+ model families benchmarked (OpenAI, Claude, Llama, DeepSeek).</a:t>
            </a:r>
            <a:br/>
            <a:r>
              <a:t>First-mover data advantage. Every new model adds to the moat.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40680"/>
            <a:ext cx="10515600" cy="10058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532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A78BFA"/>
                </a:solidFill>
                <a:latin typeface="Helvetica Neue"/>
              </a:defRPr>
              <a:lnSpc>
                <a:spcPct val="110000"/>
              </a:lnSpc>
            </a:pPr>
            <a:r>
              <a:t>Theory</a:t>
            </a:r>
            <a:br/>
            <a:r>
              <a:t>Moat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5577840"/>
            <a:ext cx="12700" cy="731520"/>
          </a:xfrm>
          <a:prstGeom prst="rect">
            <a:avLst/>
          </a:prstGeom>
          <a:solidFill>
            <a:srgbClr val="6B6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553212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Constraint Attractor Collapse + P1−P4 testable predictions.</a:t>
            </a:r>
            <a:br/>
            <a:r>
              <a:t>Not just a metric — a causal theory with neural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From research to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7772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34D399"/>
                </a:solidFill>
                <a:latin typeface="Helvetica Neue"/>
              </a:defRPr>
              <a:lnSpc>
                <a:spcPct val="110000"/>
              </a:lnSpc>
            </a:pPr>
            <a:r>
              <a:t>Phase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Unified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provider_adapter, experiment_runner, pyproject.toml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515600" cy="7772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06324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34D399"/>
                </a:solidFill>
                <a:latin typeface="Helvetica Neue"/>
              </a:defRPr>
              <a:lnSpc>
                <a:spcPct val="110000"/>
              </a:lnSpc>
            </a:pPr>
            <a:r>
              <a:t>Phase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Scientific Rigor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n=100 × 9 models, P3 neural, 4 families, temp robustness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515600" cy="7772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3B82F6"/>
                </a:solidFill>
                <a:latin typeface="Helvetica Neue"/>
              </a:defRPr>
              <a:lnSpc>
                <a:spcPct val="110000"/>
              </a:lnSpc>
            </a:pPr>
            <a:r>
              <a:t>Phase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Paper + Open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NEXT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arXiv submission, pip install decay-eval, HuggingFace Space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54880"/>
            <a:ext cx="10515600" cy="7772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892040"/>
            <a:ext cx="457200" cy="457200"/>
          </a:xfrm>
          <a:prstGeom prst="ellipse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5E5CE6"/>
                </a:solidFill>
                <a:latin typeface="Helvetica Neue"/>
              </a:defRPr>
              <a:lnSpc>
                <a:spcPct val="110000"/>
              </a:lnSpc>
            </a:pPr>
            <a:r>
              <a:t>Phase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Leaderboard Website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Q3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937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React frontend, FastAPI backend, weekly auto-eval 10+ models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669280"/>
            <a:ext cx="10515600" cy="7772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" y="580644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852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715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A78BFA"/>
                </a:solidFill>
                <a:latin typeface="Helvetica Neue"/>
              </a:defRPr>
              <a:lnSpc>
                <a:spcPct val="110000"/>
              </a:lnSpc>
            </a:pPr>
            <a:r>
              <a:t>Phase 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989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Paid 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852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Q4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Pro private eval ($1,499), Enterprise subscriptions ($4,999/mo)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Three converging trends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515600" cy="12344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5E5CE6"/>
                </a:solidFill>
                <a:latin typeface="Helvetica Neue"/>
              </a:defRPr>
              <a:lnSpc>
                <a:spcPct val="110000"/>
              </a:lnSpc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AI-generated content is flooding the training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57% of web content projected AI-generated by 2027. Models will inevitably train on their own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515600" cy="12344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5E5CE6"/>
                </a:solidFill>
                <a:latin typeface="Helvetica Neue"/>
              </a:defRPr>
              <a:lnSpc>
                <a:spcPct val="110000"/>
              </a:lnSpc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No standard metric exists for recursive 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MMLU, HumanEval, Chatbot Arena — all measure single-pass quality. The evaluation matrix has a blank cell.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515600" cy="1234440"/>
          </a:xfrm>
          <a:prstGeom prst="round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5E5CE6"/>
                </a:solidFill>
                <a:latin typeface="Helvetica Neue"/>
              </a:defRPr>
              <a:lnSpc>
                <a:spcPct val="110000"/>
              </a:lnSpc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1208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LLM companies need pre-release stability 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66928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Model degradation discovered post-deployment is catastrophic. Pre-release testing creates an insurance market.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7200" b="1">
                <a:solidFill>
                  <a:srgbClr val="FFFFFF"/>
                </a:solidFill>
                <a:latin typeface="Helvetica Neue"/>
              </a:defRPr>
              <a:lnSpc>
                <a:spcPct val="110000"/>
              </a:lnSpc>
            </a:pPr>
            <a:r>
              <a:t>DecayMonitor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0">
                <a:solidFill>
                  <a:srgbClr val="A1A1AA"/>
                </a:solidFill>
                <a:latin typeface="Helvetica Neue"/>
              </a:defRPr>
              <a:lnSpc>
                <a:spcPct val="110000"/>
              </a:lnSpc>
            </a:pPr>
            <a:r>
              <a:t>The missing dimension in LLM evaluation.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657600"/>
            <a:ext cx="3200400" cy="12700"/>
          </a:xfrm>
          <a:prstGeom prst="rect">
            <a:avLst/>
          </a:prstGeom>
          <a:solidFill>
            <a:srgbClr val="5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A1A1AA"/>
                </a:solidFill>
                <a:latin typeface="Helvetica Neue"/>
              </a:defRPr>
              <a:lnSpc>
                <a:spcPct val="150000"/>
              </a:lnSpc>
            </a:pPr>
            <a:r>
              <a:t>Deng Xinhang  ·  Beijing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A1A1AA"/>
                </a:solidFill>
                <a:latin typeface="Helvetica Neue"/>
              </a:defRPr>
              <a:lnSpc>
                <a:spcPct val="150000"/>
              </a:lnSpc>
            </a:pPr>
            <a:r>
              <a:t>Independent Research  ·  Constraint AI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A1A1AA"/>
                </a:solidFill>
                <a:latin typeface="Helvetica Neue"/>
              </a:defRPr>
              <a:lnSpc>
                <a:spcPct val="150000"/>
              </a:lnSpc>
            </a:pPr>
          </a:p>
          <a:p>
            <a:pPr algn="l">
              <a:spcAft>
                <a:spcPts val="400"/>
              </a:spcAft>
              <a:defRPr sz="1800" b="0">
                <a:solidFill>
                  <a:srgbClr val="A1A1AA"/>
                </a:solidFill>
                <a:latin typeface="Helvetica Neue"/>
              </a:defRPr>
              <a:lnSpc>
                <a:spcPct val="150000"/>
              </a:lnSpc>
            </a:pPr>
            <a:r>
              <a:t>decaymonitor.ai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6B76"/>
                </a:solidFill>
                <a:latin typeface="Helvetica Neue"/>
              </a:defRPr>
              <a:lnSpc>
                <a:spcPct val="110000"/>
              </a:lnSpc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